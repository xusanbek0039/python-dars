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6"/>
  </p:notesMasterIdLst>
  <p:sldIdLst>
    <p:sldId id="256" r:id="rId2"/>
    <p:sldId id="258" r:id="rId3"/>
    <p:sldId id="29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8" r:id="rId15"/>
  </p:sldIdLst>
  <p:sldSz cx="9144000" cy="5143500" type="screen16x9"/>
  <p:notesSz cx="6858000" cy="9144000"/>
  <p:embeddedFontLst>
    <p:embeddedFont>
      <p:font typeface="DM Sans" panose="020B0604020202020204" charset="0"/>
      <p:regular r:id="rId17"/>
      <p:bold r:id="rId18"/>
      <p:italic r:id="rId19"/>
      <p:boldItalic r:id="rId20"/>
    </p:embeddedFont>
    <p:embeddedFont>
      <p:font typeface="Bebas Neue" panose="020B0604020202020204" charset="0"/>
      <p:regular r:id="rId21"/>
    </p:embeddedFont>
    <p:embeddedFont>
      <p:font typeface="Anton" panose="020B0604020202020204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DD5F5-31F0-4A57-A7FF-FDC9B0D9D1A0}">
  <a:tblStyle styleId="{909DD5F5-31F0-4A57-A7FF-FDC9B0D9D1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634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1a510d01d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1a510d01d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0121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e1d838b62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e1d838b62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e1d838b627_4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e1d838b627_4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e1d838b627_4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e1d838b627_4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1d838b627_4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1d838b627_4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-532925" y="-2533175"/>
            <a:ext cx="10209900" cy="102099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16253" y="-1483997"/>
            <a:ext cx="8111700" cy="81117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16253" y="-1483997"/>
            <a:ext cx="8111700" cy="81117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4">
            <a:alphaModFix/>
          </a:blip>
          <a:srcRect l="2116" t="20519" r="2125" b="15951"/>
          <a:stretch/>
        </p:blipFill>
        <p:spPr>
          <a:xfrm rot="-733408">
            <a:off x="-1170195" y="-1985689"/>
            <a:ext cx="7301641" cy="2724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5">
            <a:alphaModFix/>
          </a:blip>
          <a:srcRect l="822" t="18889" r="4641" b="18890"/>
          <a:stretch/>
        </p:blipFill>
        <p:spPr>
          <a:xfrm rot="-937998">
            <a:off x="4280956" y="4522489"/>
            <a:ext cx="5616587" cy="207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 rot="-78236" flipH="1">
            <a:off x="2408221" y="1189053"/>
            <a:ext cx="4337323" cy="19138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 rot="2038">
            <a:off x="3306881" y="3224916"/>
            <a:ext cx="2530200" cy="7779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-532925" y="-2533175"/>
            <a:ext cx="10209900" cy="102099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16253" y="-1483997"/>
            <a:ext cx="8111700" cy="81117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16253" y="-1483997"/>
            <a:ext cx="8111700" cy="81117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l="822" t="18889" r="4641" b="18890"/>
          <a:stretch/>
        </p:blipFill>
        <p:spPr>
          <a:xfrm rot="937998" flipH="1">
            <a:off x="-681031" y="4522489"/>
            <a:ext cx="5616587" cy="2079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5">
            <a:alphaModFix/>
          </a:blip>
          <a:srcRect l="2116" t="20519" r="2125" b="15951"/>
          <a:stretch/>
        </p:blipFill>
        <p:spPr>
          <a:xfrm rot="733408" flipH="1">
            <a:off x="3338492" y="-1985689"/>
            <a:ext cx="7301641" cy="272470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 rot="-78084" flipH="1">
            <a:off x="1401832" y="2186249"/>
            <a:ext cx="6340335" cy="7721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 rot="1909">
            <a:off x="3221400" y="3406313"/>
            <a:ext cx="2701200" cy="7779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 rot="-78062">
            <a:off x="3937787" y="1073711"/>
            <a:ext cx="1268427" cy="88552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 rotWithShape="1">
          <a:blip r:embed="rId4">
            <a:alphaModFix/>
          </a:blip>
          <a:srcRect l="2116" t="20519" r="2125" b="15951"/>
          <a:stretch/>
        </p:blipFill>
        <p:spPr>
          <a:xfrm rot="521809">
            <a:off x="5611148" y="-1169749"/>
            <a:ext cx="5065807" cy="18903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>
            <a:spLocks noGrp="1"/>
          </p:cNvSpPr>
          <p:nvPr>
            <p:ph type="ctrTitle"/>
          </p:nvPr>
        </p:nvSpPr>
        <p:spPr>
          <a:xfrm rot="268" flipH="1">
            <a:off x="720000" y="539799"/>
            <a:ext cx="7704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1489788" y="2982300"/>
            <a:ext cx="28293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2"/>
          </p:nvPr>
        </p:nvSpPr>
        <p:spPr>
          <a:xfrm>
            <a:off x="1489663" y="2571750"/>
            <a:ext cx="28293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3"/>
          </p:nvPr>
        </p:nvSpPr>
        <p:spPr>
          <a:xfrm>
            <a:off x="4825050" y="2982300"/>
            <a:ext cx="28293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4"/>
          </p:nvPr>
        </p:nvSpPr>
        <p:spPr>
          <a:xfrm>
            <a:off x="4824925" y="2571750"/>
            <a:ext cx="28293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>
          <a:blip r:embed="rId2">
            <a:alphaModFix amt="68000"/>
          </a:blip>
          <a:stretch>
            <a:fillRect/>
          </a:stretch>
        </p:blipFill>
        <p:spPr>
          <a:xfrm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ctrTitle"/>
          </p:nvPr>
        </p:nvSpPr>
        <p:spPr>
          <a:xfrm rot="268" flipH="1">
            <a:off x="720000" y="539799"/>
            <a:ext cx="7704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4">
            <a:alphaModFix/>
          </a:blip>
          <a:srcRect l="822" t="18889" r="4641" b="18890"/>
          <a:stretch/>
        </p:blipFill>
        <p:spPr>
          <a:xfrm rot="9862002">
            <a:off x="-2997319" y="-1133761"/>
            <a:ext cx="5616587" cy="207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6"/>
          <p:cNvGrpSpPr/>
          <p:nvPr/>
        </p:nvGrpSpPr>
        <p:grpSpPr>
          <a:xfrm>
            <a:off x="8228912" y="337632"/>
            <a:ext cx="403720" cy="403720"/>
            <a:chOff x="7876975" y="539500"/>
            <a:chExt cx="553800" cy="553800"/>
          </a:xfrm>
        </p:grpSpPr>
        <p:cxnSp>
          <p:nvCxnSpPr>
            <p:cNvPr id="59" name="Google Shape;59;p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>
            <a:spLocks noGrp="1"/>
          </p:cNvSpPr>
          <p:nvPr>
            <p:ph type="ctrTitle"/>
          </p:nvPr>
        </p:nvSpPr>
        <p:spPr>
          <a:xfrm rot="278" flipH="1">
            <a:off x="4718875" y="759061"/>
            <a:ext cx="3711900" cy="128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1"/>
          </p:nvPr>
        </p:nvSpPr>
        <p:spPr>
          <a:xfrm>
            <a:off x="4718875" y="2069500"/>
            <a:ext cx="3711900" cy="23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4">
            <a:alphaModFix/>
          </a:blip>
          <a:srcRect l="822" t="18889" r="4641" b="18890"/>
          <a:stretch/>
        </p:blipFill>
        <p:spPr>
          <a:xfrm rot="4697203" flipH="1">
            <a:off x="-1130898" y="1397434"/>
            <a:ext cx="7744001" cy="286698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>
            <a:spLocks noGrp="1"/>
          </p:cNvSpPr>
          <p:nvPr>
            <p:ph type="pic" idx="2"/>
          </p:nvPr>
        </p:nvSpPr>
        <p:spPr>
          <a:xfrm flipH="1">
            <a:off x="-921375" y="0"/>
            <a:ext cx="4276800" cy="5261175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/>
          <p:nvPr/>
        </p:nvSpPr>
        <p:spPr>
          <a:xfrm>
            <a:off x="-532925" y="-2533175"/>
            <a:ext cx="10209900" cy="102099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516253" y="-1483997"/>
            <a:ext cx="8111700" cy="81117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516253" y="-1483997"/>
            <a:ext cx="8111700" cy="81117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ctrTitle"/>
          </p:nvPr>
        </p:nvSpPr>
        <p:spPr>
          <a:xfrm rot="-78382" flipH="1">
            <a:off x="2056870" y="1691203"/>
            <a:ext cx="5039810" cy="19138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pic>
        <p:nvPicPr>
          <p:cNvPr id="78" name="Google Shape;78;p8"/>
          <p:cNvPicPr preferRelativeResize="0"/>
          <p:nvPr/>
        </p:nvPicPr>
        <p:blipFill rotWithShape="1">
          <a:blip r:embed="rId4">
            <a:alphaModFix/>
          </a:blip>
          <a:srcRect l="2116" t="20519" r="2125" b="15951"/>
          <a:stretch/>
        </p:blipFill>
        <p:spPr>
          <a:xfrm rot="-733408">
            <a:off x="-1170195" y="-1784914"/>
            <a:ext cx="7301641" cy="2724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"/>
          <p:cNvPicPr preferRelativeResize="0"/>
          <p:nvPr/>
        </p:nvPicPr>
        <p:blipFill rotWithShape="1">
          <a:blip r:embed="rId5">
            <a:alphaModFix/>
          </a:blip>
          <a:srcRect l="822" t="18889" r="4641" b="18890"/>
          <a:stretch/>
        </p:blipFill>
        <p:spPr>
          <a:xfrm rot="-937998">
            <a:off x="4280956" y="4173664"/>
            <a:ext cx="5616587" cy="2079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9"/>
          <p:cNvPicPr preferRelativeResize="0"/>
          <p:nvPr/>
        </p:nvPicPr>
        <p:blipFill rotWithShape="1">
          <a:blip r:embed="rId4">
            <a:alphaModFix/>
          </a:blip>
          <a:srcRect l="2116" t="20519" r="2125" b="15951"/>
          <a:stretch/>
        </p:blipFill>
        <p:spPr>
          <a:xfrm rot="-733409">
            <a:off x="-2448502" y="-1286025"/>
            <a:ext cx="5065806" cy="189037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9"/>
          <p:cNvSpPr txBox="1">
            <a:spLocks noGrp="1"/>
          </p:cNvSpPr>
          <p:nvPr>
            <p:ph type="subTitle" idx="1"/>
          </p:nvPr>
        </p:nvSpPr>
        <p:spPr>
          <a:xfrm>
            <a:off x="854775" y="1747175"/>
            <a:ext cx="3508800" cy="24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subTitle" idx="2"/>
          </p:nvPr>
        </p:nvSpPr>
        <p:spPr>
          <a:xfrm>
            <a:off x="4780427" y="1747175"/>
            <a:ext cx="3508800" cy="24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ctrTitle"/>
          </p:nvPr>
        </p:nvSpPr>
        <p:spPr>
          <a:xfrm rot="268" flipH="1">
            <a:off x="720000" y="539799"/>
            <a:ext cx="7704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 rotWithShape="1">
          <a:blip r:embed="rId4">
            <a:alphaModFix/>
          </a:blip>
          <a:srcRect l="822" t="18889" r="4641" b="18890"/>
          <a:stretch/>
        </p:blipFill>
        <p:spPr>
          <a:xfrm rot="-9862002" flipH="1">
            <a:off x="4973531" y="-1583536"/>
            <a:ext cx="5616587" cy="207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>
            <a:spLocks noGrp="1"/>
          </p:cNvSpPr>
          <p:nvPr>
            <p:ph type="subTitle" idx="1"/>
          </p:nvPr>
        </p:nvSpPr>
        <p:spPr>
          <a:xfrm>
            <a:off x="2030791" y="2171100"/>
            <a:ext cx="2216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hasCustomPrompt="1"/>
          </p:nvPr>
        </p:nvSpPr>
        <p:spPr>
          <a:xfrm rot="-78143">
            <a:off x="1036715" y="1921855"/>
            <a:ext cx="923939" cy="76279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2"/>
          </p:nvPr>
        </p:nvSpPr>
        <p:spPr>
          <a:xfrm>
            <a:off x="2030697" y="1760550"/>
            <a:ext cx="22167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3"/>
          </p:nvPr>
        </p:nvSpPr>
        <p:spPr>
          <a:xfrm>
            <a:off x="5899166" y="2171100"/>
            <a:ext cx="2216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4" hasCustomPrompt="1"/>
          </p:nvPr>
        </p:nvSpPr>
        <p:spPr>
          <a:xfrm rot="-78143">
            <a:off x="4905065" y="1921780"/>
            <a:ext cx="923939" cy="76279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5"/>
          </p:nvPr>
        </p:nvSpPr>
        <p:spPr>
          <a:xfrm>
            <a:off x="5899072" y="1760550"/>
            <a:ext cx="22167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6"/>
          </p:nvPr>
        </p:nvSpPr>
        <p:spPr>
          <a:xfrm>
            <a:off x="2030791" y="3716675"/>
            <a:ext cx="2216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7" hasCustomPrompt="1"/>
          </p:nvPr>
        </p:nvSpPr>
        <p:spPr>
          <a:xfrm rot="-78143">
            <a:off x="1036715" y="3467430"/>
            <a:ext cx="923939" cy="76279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8"/>
          </p:nvPr>
        </p:nvSpPr>
        <p:spPr>
          <a:xfrm>
            <a:off x="2030697" y="3306125"/>
            <a:ext cx="22167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9"/>
          </p:nvPr>
        </p:nvSpPr>
        <p:spPr>
          <a:xfrm>
            <a:off x="5899166" y="3716675"/>
            <a:ext cx="2216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13" hasCustomPrompt="1"/>
          </p:nvPr>
        </p:nvSpPr>
        <p:spPr>
          <a:xfrm rot="-78143">
            <a:off x="4905065" y="3467430"/>
            <a:ext cx="923939" cy="76279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4"/>
          </p:nvPr>
        </p:nvSpPr>
        <p:spPr>
          <a:xfrm>
            <a:off x="5899072" y="3306125"/>
            <a:ext cx="22167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ctrTitle" idx="15"/>
          </p:nvPr>
        </p:nvSpPr>
        <p:spPr>
          <a:xfrm rot="268" flipH="1">
            <a:off x="720000" y="539799"/>
            <a:ext cx="7704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50" y="-53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/>
          <p:nvPr/>
        </p:nvSpPr>
        <p:spPr>
          <a:xfrm rot="10800000"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4"/>
          <p:cNvSpPr/>
          <p:nvPr/>
        </p:nvSpPr>
        <p:spPr>
          <a:xfrm rot="10800000">
            <a:off x="114184" y="-1886066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4"/>
          <p:cNvSpPr/>
          <p:nvPr/>
        </p:nvSpPr>
        <p:spPr>
          <a:xfrm rot="10800000">
            <a:off x="114184" y="-1886066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5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 rotWithShape="1">
          <a:blip r:embed="rId4">
            <a:alphaModFix/>
          </a:blip>
          <a:srcRect l="822" t="18889" r="4641" b="18890"/>
          <a:stretch/>
        </p:blipFill>
        <p:spPr>
          <a:xfrm rot="937998" flipH="1">
            <a:off x="-1220881" y="4334639"/>
            <a:ext cx="5616587" cy="2079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5">
            <a:alphaModFix/>
          </a:blip>
          <a:srcRect l="2116" t="20519" r="2125" b="15951"/>
          <a:stretch/>
        </p:blipFill>
        <p:spPr>
          <a:xfrm rot="733408" flipH="1">
            <a:off x="2372392" y="-2039364"/>
            <a:ext cx="7301641" cy="27247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subTitle" idx="1"/>
          </p:nvPr>
        </p:nvSpPr>
        <p:spPr>
          <a:xfrm>
            <a:off x="5335925" y="2704888"/>
            <a:ext cx="2808600" cy="10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ctrTitle"/>
          </p:nvPr>
        </p:nvSpPr>
        <p:spPr>
          <a:xfrm rot="367" flipH="1">
            <a:off x="5335925" y="1436448"/>
            <a:ext cx="2808600" cy="12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 flipH="1"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15"/>
          <p:cNvPicPr preferRelativeResize="0"/>
          <p:nvPr/>
        </p:nvPicPr>
        <p:blipFill rotWithShape="1">
          <a:blip r:embed="rId4">
            <a:alphaModFix/>
          </a:blip>
          <a:srcRect l="822" t="18889" r="4641" b="18890"/>
          <a:stretch/>
        </p:blipFill>
        <p:spPr>
          <a:xfrm rot="-9862002" flipH="1">
            <a:off x="4973531" y="-1583536"/>
            <a:ext cx="5616587" cy="207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>
            <a:spLocks noGrp="1"/>
          </p:cNvSpPr>
          <p:nvPr>
            <p:ph type="ctrTitle"/>
          </p:nvPr>
        </p:nvSpPr>
        <p:spPr>
          <a:xfrm rot="238" flipH="1">
            <a:off x="860875" y="1028944"/>
            <a:ext cx="4336200" cy="12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body" idx="1"/>
          </p:nvPr>
        </p:nvSpPr>
        <p:spPr>
          <a:xfrm>
            <a:off x="860875" y="2288900"/>
            <a:ext cx="4336200" cy="18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50" y="-53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/>
          <p:nvPr/>
        </p:nvSpPr>
        <p:spPr>
          <a:xfrm rot="10800000"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 rot="10800000">
            <a:off x="114184" y="-1886066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 rot="10800000">
            <a:off x="114184" y="-1886066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5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 rotWithShape="1">
          <a:blip r:embed="rId4">
            <a:alphaModFix/>
          </a:blip>
          <a:srcRect l="822" t="18889" r="4641" b="18890"/>
          <a:stretch/>
        </p:blipFill>
        <p:spPr>
          <a:xfrm rot="9862002">
            <a:off x="-2997319" y="-1133761"/>
            <a:ext cx="5616587" cy="207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>
            <a:spLocks noGrp="1"/>
          </p:cNvSpPr>
          <p:nvPr>
            <p:ph type="ctrTitle"/>
          </p:nvPr>
        </p:nvSpPr>
        <p:spPr>
          <a:xfrm rot="268" flipH="1">
            <a:off x="720000" y="539799"/>
            <a:ext cx="7704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subTitle" idx="1"/>
          </p:nvPr>
        </p:nvSpPr>
        <p:spPr>
          <a:xfrm>
            <a:off x="1272550" y="2976918"/>
            <a:ext cx="18789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2"/>
          </p:nvPr>
        </p:nvSpPr>
        <p:spPr>
          <a:xfrm>
            <a:off x="1272550" y="2566368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subTitle" idx="3"/>
          </p:nvPr>
        </p:nvSpPr>
        <p:spPr>
          <a:xfrm>
            <a:off x="3632550" y="2976918"/>
            <a:ext cx="18789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subTitle" idx="4"/>
          </p:nvPr>
        </p:nvSpPr>
        <p:spPr>
          <a:xfrm>
            <a:off x="3632550" y="2566368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5"/>
          </p:nvPr>
        </p:nvSpPr>
        <p:spPr>
          <a:xfrm>
            <a:off x="5992550" y="2976918"/>
            <a:ext cx="18789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ubTitle" idx="6"/>
          </p:nvPr>
        </p:nvSpPr>
        <p:spPr>
          <a:xfrm>
            <a:off x="5992550" y="2566368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/>
          <p:cNvPicPr preferRelativeResize="0"/>
          <p:nvPr/>
        </p:nvPicPr>
        <p:blipFill>
          <a:blip r:embed="rId2">
            <a:alphaModFix amt="73000"/>
          </a:blip>
          <a:stretch>
            <a:fillRect/>
          </a:stretch>
        </p:blipFill>
        <p:spPr>
          <a:xfrm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ctrTitle"/>
          </p:nvPr>
        </p:nvSpPr>
        <p:spPr>
          <a:xfrm rot="268" flipH="1">
            <a:off x="720000" y="539799"/>
            <a:ext cx="7704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l="822" t="18889" r="4641" b="18890"/>
          <a:stretch/>
        </p:blipFill>
        <p:spPr>
          <a:xfrm rot="-9862002" flipH="1">
            <a:off x="4919881" y="-1547761"/>
            <a:ext cx="5616587" cy="207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>
            <a:spLocks noGrp="1"/>
          </p:cNvSpPr>
          <p:nvPr>
            <p:ph type="subTitle" idx="1"/>
          </p:nvPr>
        </p:nvSpPr>
        <p:spPr>
          <a:xfrm>
            <a:off x="1272650" y="3767000"/>
            <a:ext cx="1878900" cy="7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2"/>
          </p:nvPr>
        </p:nvSpPr>
        <p:spPr>
          <a:xfrm>
            <a:off x="1272551" y="3356450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3"/>
          </p:nvPr>
        </p:nvSpPr>
        <p:spPr>
          <a:xfrm>
            <a:off x="3632724" y="3767000"/>
            <a:ext cx="1878900" cy="7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4"/>
          </p:nvPr>
        </p:nvSpPr>
        <p:spPr>
          <a:xfrm>
            <a:off x="3632625" y="3356450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subTitle" idx="5"/>
          </p:nvPr>
        </p:nvSpPr>
        <p:spPr>
          <a:xfrm>
            <a:off x="5992650" y="3767000"/>
            <a:ext cx="1878900" cy="7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6"/>
          </p:nvPr>
        </p:nvSpPr>
        <p:spPr>
          <a:xfrm>
            <a:off x="5992551" y="3356450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7"/>
          </p:nvPr>
        </p:nvSpPr>
        <p:spPr>
          <a:xfrm>
            <a:off x="1272650" y="2169800"/>
            <a:ext cx="1878900" cy="7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subTitle" idx="8"/>
          </p:nvPr>
        </p:nvSpPr>
        <p:spPr>
          <a:xfrm>
            <a:off x="1272551" y="1759250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9"/>
          </p:nvPr>
        </p:nvSpPr>
        <p:spPr>
          <a:xfrm>
            <a:off x="3632724" y="2169800"/>
            <a:ext cx="1878900" cy="7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subTitle" idx="13"/>
          </p:nvPr>
        </p:nvSpPr>
        <p:spPr>
          <a:xfrm>
            <a:off x="3632625" y="1759250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ubTitle" idx="14"/>
          </p:nvPr>
        </p:nvSpPr>
        <p:spPr>
          <a:xfrm>
            <a:off x="5992650" y="2169800"/>
            <a:ext cx="1878900" cy="7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15"/>
          </p:nvPr>
        </p:nvSpPr>
        <p:spPr>
          <a:xfrm>
            <a:off x="5992551" y="1759250"/>
            <a:ext cx="1878900" cy="5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/>
          <p:cNvPicPr preferRelativeResize="0"/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19"/>
          <p:cNvPicPr preferRelativeResize="0"/>
          <p:nvPr/>
        </p:nvPicPr>
        <p:blipFill rotWithShape="1">
          <a:blip r:embed="rId4">
            <a:alphaModFix/>
          </a:blip>
          <a:srcRect l="822" t="18889" r="4641" b="18890"/>
          <a:stretch/>
        </p:blipFill>
        <p:spPr>
          <a:xfrm rot="-9862002" flipH="1">
            <a:off x="4973531" y="-1583536"/>
            <a:ext cx="5616587" cy="207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>
            <a:spLocks noGrp="1"/>
          </p:cNvSpPr>
          <p:nvPr>
            <p:ph type="ctrTitle"/>
          </p:nvPr>
        </p:nvSpPr>
        <p:spPr>
          <a:xfrm rot="268" flipH="1">
            <a:off x="720000" y="539799"/>
            <a:ext cx="7704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-532925" y="-2533175"/>
            <a:ext cx="10209900" cy="102099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16253" y="-1483997"/>
            <a:ext cx="8111700" cy="81117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16253" y="-1483997"/>
            <a:ext cx="8111700" cy="81117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1" name="Google Shape;211;p21"/>
          <p:cNvPicPr preferRelativeResize="0"/>
          <p:nvPr/>
        </p:nvPicPr>
        <p:blipFill rotWithShape="1">
          <a:blip r:embed="rId4">
            <a:alphaModFix/>
          </a:blip>
          <a:srcRect l="2116" t="20519" r="2125" b="15951"/>
          <a:stretch/>
        </p:blipFill>
        <p:spPr>
          <a:xfrm rot="-733408">
            <a:off x="-1170195" y="-1985689"/>
            <a:ext cx="7301641" cy="2724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 rotWithShape="1">
          <a:blip r:embed="rId5">
            <a:alphaModFix/>
          </a:blip>
          <a:srcRect l="822" t="18889" r="4641" b="18890"/>
          <a:stretch/>
        </p:blipFill>
        <p:spPr>
          <a:xfrm rot="-937998">
            <a:off x="4280956" y="4522489"/>
            <a:ext cx="5616587" cy="2079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-1038775" y="-3039025"/>
            <a:ext cx="11221500" cy="11221500"/>
          </a:xfrm>
          <a:prstGeom prst="ellipse">
            <a:avLst/>
          </a:prstGeom>
          <a:gradFill>
            <a:gsLst>
              <a:gs pos="0">
                <a:srgbClr val="FFFFFF">
                  <a:alpha val="37647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6549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114366" y="-1885884"/>
            <a:ext cx="8915400" cy="8915400"/>
          </a:xfrm>
          <a:prstGeom prst="ellipse">
            <a:avLst/>
          </a:prstGeom>
          <a:gradFill>
            <a:gsLst>
              <a:gs pos="0">
                <a:srgbClr val="FFFFFF">
                  <a:alpha val="88235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5" r:id="rId14"/>
    <p:sldLayoutId id="2147483667" r:id="rId15"/>
    <p:sldLayoutId id="2147483668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/>
          <p:nvPr/>
        </p:nvSpPr>
        <p:spPr>
          <a:xfrm rot="-777176">
            <a:off x="-354780" y="134614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30" name="Google Shape;230;p26"/>
          <p:cNvSpPr/>
          <p:nvPr/>
        </p:nvSpPr>
        <p:spPr>
          <a:xfrm rot="-777176">
            <a:off x="1445971" y="-279561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31" name="Google Shape;231;p26"/>
          <p:cNvSpPr/>
          <p:nvPr/>
        </p:nvSpPr>
        <p:spPr>
          <a:xfrm rot="-777176">
            <a:off x="3246723" y="-693736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32" name="Google Shape;232;p26"/>
          <p:cNvSpPr/>
          <p:nvPr/>
        </p:nvSpPr>
        <p:spPr>
          <a:xfrm rot="-777176">
            <a:off x="5047474" y="-1107912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33" name="Google Shape;233;p26"/>
          <p:cNvSpPr txBox="1">
            <a:spLocks noGrp="1"/>
          </p:cNvSpPr>
          <p:nvPr>
            <p:ph type="ctrTitle"/>
          </p:nvPr>
        </p:nvSpPr>
        <p:spPr>
          <a:xfrm rot="-78236" flipH="1">
            <a:off x="2408221" y="1189053"/>
            <a:ext cx="4337323" cy="19138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 err="1" smtClean="0">
                <a:latin typeface="Anton"/>
                <a:ea typeface="Anton"/>
                <a:cs typeface="Anton"/>
                <a:sym typeface="Anton"/>
              </a:rPr>
              <a:t>Dars</a:t>
            </a:r>
            <a:r>
              <a:rPr lang="en-US" sz="6000" dirty="0" smtClean="0">
                <a:latin typeface="Anton"/>
                <a:ea typeface="Anton"/>
                <a:cs typeface="Anton"/>
                <a:sym typeface="Anton"/>
              </a:rPr>
              <a:t> 12</a:t>
            </a:r>
            <a:endParaRPr sz="60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34" name="Google Shape;234;p26"/>
          <p:cNvSpPr txBox="1">
            <a:spLocks noGrp="1"/>
          </p:cNvSpPr>
          <p:nvPr>
            <p:ph type="subTitle" idx="1"/>
          </p:nvPr>
        </p:nvSpPr>
        <p:spPr>
          <a:xfrm rot="2038">
            <a:off x="3306881" y="3224916"/>
            <a:ext cx="2530200" cy="7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Mentor: Suyunov Husan</a:t>
            </a:r>
            <a:endParaRPr dirty="0"/>
          </a:p>
        </p:txBody>
      </p:sp>
      <p:grpSp>
        <p:nvGrpSpPr>
          <p:cNvPr id="235" name="Google Shape;235;p26"/>
          <p:cNvGrpSpPr/>
          <p:nvPr/>
        </p:nvGrpSpPr>
        <p:grpSpPr>
          <a:xfrm>
            <a:off x="511375" y="4402132"/>
            <a:ext cx="403720" cy="403720"/>
            <a:chOff x="7876975" y="539500"/>
            <a:chExt cx="553800" cy="553800"/>
          </a:xfrm>
        </p:grpSpPr>
        <p:cxnSp>
          <p:nvCxnSpPr>
            <p:cNvPr id="236" name="Google Shape;236;p2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2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8" name="Google Shape;238;p26"/>
          <p:cNvGrpSpPr/>
          <p:nvPr/>
        </p:nvGrpSpPr>
        <p:grpSpPr>
          <a:xfrm>
            <a:off x="8228912" y="337645"/>
            <a:ext cx="403720" cy="403720"/>
            <a:chOff x="7876975" y="539500"/>
            <a:chExt cx="553800" cy="553800"/>
          </a:xfrm>
        </p:grpSpPr>
        <p:cxnSp>
          <p:nvCxnSpPr>
            <p:cNvPr id="239" name="Google Shape;239;p2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2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1" name="Google Shape;241;p26"/>
          <p:cNvGrpSpPr/>
          <p:nvPr/>
        </p:nvGrpSpPr>
        <p:grpSpPr>
          <a:xfrm>
            <a:off x="8228925" y="2369895"/>
            <a:ext cx="403720" cy="403720"/>
            <a:chOff x="7876975" y="539500"/>
            <a:chExt cx="553800" cy="553800"/>
          </a:xfrm>
        </p:grpSpPr>
        <p:cxnSp>
          <p:nvCxnSpPr>
            <p:cNvPr id="242" name="Google Shape;242;p2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2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" name="Google Shape;244;p26"/>
          <p:cNvGrpSpPr/>
          <p:nvPr/>
        </p:nvGrpSpPr>
        <p:grpSpPr>
          <a:xfrm>
            <a:off x="511387" y="2369895"/>
            <a:ext cx="403720" cy="403720"/>
            <a:chOff x="7876975" y="539500"/>
            <a:chExt cx="553800" cy="553800"/>
          </a:xfrm>
        </p:grpSpPr>
        <p:cxnSp>
          <p:nvCxnSpPr>
            <p:cNvPr id="245" name="Google Shape;245;p2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2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7" name="Google Shape;247;p26"/>
          <p:cNvSpPr/>
          <p:nvPr/>
        </p:nvSpPr>
        <p:spPr>
          <a:xfrm rot="-777176">
            <a:off x="3439820" y="4839839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48" name="Google Shape;248;p26"/>
          <p:cNvSpPr/>
          <p:nvPr/>
        </p:nvSpPr>
        <p:spPr>
          <a:xfrm rot="-777176">
            <a:off x="5240571" y="4425664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49" name="Google Shape;249;p26"/>
          <p:cNvSpPr/>
          <p:nvPr/>
        </p:nvSpPr>
        <p:spPr>
          <a:xfrm rot="-777176">
            <a:off x="7041323" y="4011489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50" name="Google Shape;250;p26"/>
          <p:cNvSpPr/>
          <p:nvPr/>
        </p:nvSpPr>
        <p:spPr>
          <a:xfrm rot="-777176">
            <a:off x="8842074" y="3597313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>
            <a:spLocks noGrp="1"/>
          </p:cNvSpPr>
          <p:nvPr>
            <p:ph type="ctrTitle"/>
          </p:nvPr>
        </p:nvSpPr>
        <p:spPr>
          <a:xfrm rot="238" flipH="1">
            <a:off x="860875" y="1028944"/>
            <a:ext cx="4336200" cy="12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1"/>
                </a:solidFill>
              </a:rPr>
              <a:t>Reja:</a:t>
            </a:r>
            <a:br>
              <a:rPr lang="en" dirty="0" smtClean="0">
                <a:solidFill>
                  <a:schemeClr val="accent1"/>
                </a:solidFill>
              </a:rPr>
            </a:br>
            <a:endParaRPr dirty="0"/>
          </a:p>
        </p:txBody>
      </p:sp>
      <p:sp>
        <p:nvSpPr>
          <p:cNvPr id="268" name="Google Shape;268;p28"/>
          <p:cNvSpPr txBox="1">
            <a:spLocks noGrp="1"/>
          </p:cNvSpPr>
          <p:nvPr>
            <p:ph type="body" idx="1"/>
          </p:nvPr>
        </p:nvSpPr>
        <p:spPr>
          <a:xfrm>
            <a:off x="917582" y="1638810"/>
            <a:ext cx="4336200" cy="18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 err="1"/>
              <a:t>Pythonda</a:t>
            </a:r>
            <a:r>
              <a:rPr lang="en-US" dirty="0"/>
              <a:t> list </a:t>
            </a:r>
            <a:r>
              <a:rPr lang="en-US" dirty="0" err="1"/>
              <a:t>tushunchasi</a:t>
            </a:r>
            <a:r>
              <a:rPr lang="en-US" dirty="0"/>
              <a:t>(</a:t>
            </a:r>
            <a:r>
              <a:rPr lang="en-US" dirty="0" err="1"/>
              <a:t>to’plam</a:t>
            </a:r>
            <a:r>
              <a:rPr lang="en-US" dirty="0"/>
              <a:t>) </a:t>
            </a:r>
            <a:r>
              <a:rPr lang="en-US" dirty="0" err="1" smtClean="0"/>
              <a:t>lu’gat</a:t>
            </a:r>
            <a:endParaRPr lang="en-US" dirty="0" smtClean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 err="1"/>
              <a:t>Lugatlar</a:t>
            </a:r>
            <a:r>
              <a:rPr lang="en-US" dirty="0"/>
              <a:t> </a:t>
            </a:r>
            <a:r>
              <a:rPr lang="en-US" dirty="0" err="1"/>
              <a:t>ustida</a:t>
            </a:r>
            <a:r>
              <a:rPr lang="en-US" dirty="0"/>
              <a:t> </a:t>
            </a:r>
            <a:r>
              <a:rPr lang="en-US" dirty="0" err="1" smtClean="0"/>
              <a:t>amallar</a:t>
            </a:r>
            <a:endParaRPr lang="en-US" dirty="0" smtClean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get() </a:t>
            </a:r>
            <a:endParaRPr lang="en-US" dirty="0" smtClean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k</a:t>
            </a:r>
            <a:r>
              <a:rPr lang="en-US" dirty="0" smtClean="0"/>
              <a:t>eys()</a:t>
            </a:r>
          </a:p>
          <a:p>
            <a:pPr marL="0" lvl="0" indent="0">
              <a:buNone/>
            </a:pPr>
            <a:endParaRPr lang="en-US" dirty="0" smtClean="0"/>
          </a:p>
          <a:p>
            <a:pPr marL="0" lvl="0" indent="0">
              <a:buNone/>
            </a:pPr>
            <a:r>
              <a:rPr lang="en-US" dirty="0"/>
              <a:t>values</a:t>
            </a:r>
            <a:r>
              <a:rPr lang="en-US" dirty="0" smtClean="0"/>
              <a:t>()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items()</a:t>
            </a:r>
            <a:endParaRPr dirty="0"/>
          </a:p>
        </p:txBody>
      </p:sp>
      <p:sp>
        <p:nvSpPr>
          <p:cNvPr id="269" name="Google Shape;269;p28"/>
          <p:cNvSpPr/>
          <p:nvPr/>
        </p:nvSpPr>
        <p:spPr>
          <a:xfrm rot="-16">
            <a:off x="6106421" y="1204709"/>
            <a:ext cx="1671607" cy="137599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70" name="Google Shape;270;p28"/>
          <p:cNvSpPr/>
          <p:nvPr/>
        </p:nvSpPr>
        <p:spPr>
          <a:xfrm rot="-16">
            <a:off x="6106421" y="2571763"/>
            <a:ext cx="1671607" cy="137599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271" name="Google Shape;271;p28"/>
          <p:cNvSpPr/>
          <p:nvPr/>
        </p:nvSpPr>
        <p:spPr>
          <a:xfrm rot="-11">
            <a:off x="5601430" y="2236744"/>
            <a:ext cx="2681578" cy="6700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>
                <a:noFill/>
              </a:ln>
              <a:solidFill>
                <a:schemeClr val="lt2"/>
              </a:solidFill>
              <a:latin typeface="Anton"/>
            </a:endParaRPr>
          </a:p>
        </p:txBody>
      </p:sp>
      <p:grpSp>
        <p:nvGrpSpPr>
          <p:cNvPr id="272" name="Google Shape;272;p28"/>
          <p:cNvGrpSpPr/>
          <p:nvPr/>
        </p:nvGrpSpPr>
        <p:grpSpPr>
          <a:xfrm flipH="1">
            <a:off x="8228925" y="4402145"/>
            <a:ext cx="403720" cy="403720"/>
            <a:chOff x="7876975" y="539500"/>
            <a:chExt cx="553800" cy="553800"/>
          </a:xfrm>
        </p:grpSpPr>
        <p:cxnSp>
          <p:nvCxnSpPr>
            <p:cNvPr id="273" name="Google Shape;273;p28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28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>
            <a:spLocks noGrp="1"/>
          </p:cNvSpPr>
          <p:nvPr>
            <p:ph type="ctrTitle"/>
          </p:nvPr>
        </p:nvSpPr>
        <p:spPr>
          <a:xfrm rot="-78084" flipH="1">
            <a:off x="1401768" y="2180711"/>
            <a:ext cx="6828051" cy="7721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Pythonda</a:t>
            </a:r>
            <a:r>
              <a:rPr lang="en-US" dirty="0"/>
              <a:t> list </a:t>
            </a:r>
            <a:r>
              <a:rPr lang="en-US" dirty="0" err="1"/>
              <a:t>tushunchasi</a:t>
            </a:r>
            <a:r>
              <a:rPr lang="en-US" dirty="0"/>
              <a:t>(</a:t>
            </a:r>
            <a:r>
              <a:rPr lang="en-US" dirty="0" err="1"/>
              <a:t>to’plam</a:t>
            </a:r>
            <a:r>
              <a:rPr lang="en-US" dirty="0"/>
              <a:t>) </a:t>
            </a:r>
            <a:r>
              <a:rPr lang="en-US" dirty="0" err="1"/>
              <a:t>lu’gat</a:t>
            </a:r>
            <a:endParaRPr lang="en-US" dirty="0"/>
          </a:p>
        </p:txBody>
      </p:sp>
      <p:sp>
        <p:nvSpPr>
          <p:cNvPr id="314" name="Google Shape;314;p31"/>
          <p:cNvSpPr txBox="1">
            <a:spLocks noGrp="1"/>
          </p:cNvSpPr>
          <p:nvPr>
            <p:ph type="title" idx="2"/>
          </p:nvPr>
        </p:nvSpPr>
        <p:spPr>
          <a:xfrm rot="-78062">
            <a:off x="3937787" y="1073711"/>
            <a:ext cx="1268427" cy="8855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01</a:t>
            </a:r>
            <a:endParaRPr dirty="0"/>
          </a:p>
        </p:txBody>
      </p:sp>
      <p:grpSp>
        <p:nvGrpSpPr>
          <p:cNvPr id="315" name="Google Shape;315;p31"/>
          <p:cNvGrpSpPr/>
          <p:nvPr/>
        </p:nvGrpSpPr>
        <p:grpSpPr>
          <a:xfrm rot="10800000" flipH="1">
            <a:off x="511375" y="337645"/>
            <a:ext cx="403720" cy="403720"/>
            <a:chOff x="7876975" y="539500"/>
            <a:chExt cx="553800" cy="553800"/>
          </a:xfrm>
        </p:grpSpPr>
        <p:cxnSp>
          <p:nvCxnSpPr>
            <p:cNvPr id="316" name="Google Shape;316;p31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31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8" name="Google Shape;318;p31"/>
          <p:cNvGrpSpPr/>
          <p:nvPr/>
        </p:nvGrpSpPr>
        <p:grpSpPr>
          <a:xfrm rot="10800000" flipH="1">
            <a:off x="8228912" y="4402132"/>
            <a:ext cx="403720" cy="403720"/>
            <a:chOff x="7876975" y="539500"/>
            <a:chExt cx="553800" cy="553800"/>
          </a:xfrm>
        </p:grpSpPr>
        <p:cxnSp>
          <p:nvCxnSpPr>
            <p:cNvPr id="319" name="Google Shape;319;p31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31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1" name="Google Shape;321;p31"/>
          <p:cNvGrpSpPr/>
          <p:nvPr/>
        </p:nvGrpSpPr>
        <p:grpSpPr>
          <a:xfrm rot="10800000" flipH="1">
            <a:off x="8228925" y="2369895"/>
            <a:ext cx="403720" cy="403720"/>
            <a:chOff x="7876975" y="539500"/>
            <a:chExt cx="553800" cy="553800"/>
          </a:xfrm>
        </p:grpSpPr>
        <p:cxnSp>
          <p:nvCxnSpPr>
            <p:cNvPr id="322" name="Google Shape;322;p31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1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4" name="Google Shape;324;p31"/>
          <p:cNvGrpSpPr/>
          <p:nvPr/>
        </p:nvGrpSpPr>
        <p:grpSpPr>
          <a:xfrm rot="10800000" flipH="1">
            <a:off x="511387" y="2369882"/>
            <a:ext cx="403720" cy="403720"/>
            <a:chOff x="7876975" y="539500"/>
            <a:chExt cx="553800" cy="553800"/>
          </a:xfrm>
        </p:grpSpPr>
        <p:cxnSp>
          <p:nvCxnSpPr>
            <p:cNvPr id="325" name="Google Shape;325;p31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31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7" name="Google Shape;327;p31"/>
          <p:cNvSpPr/>
          <p:nvPr/>
        </p:nvSpPr>
        <p:spPr>
          <a:xfrm rot="760850">
            <a:off x="2996778" y="-1068266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28" name="Google Shape;328;p31"/>
          <p:cNvSpPr/>
          <p:nvPr/>
        </p:nvSpPr>
        <p:spPr>
          <a:xfrm rot="760850">
            <a:off x="4799474" y="-662639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29" name="Google Shape;329;p31"/>
          <p:cNvSpPr/>
          <p:nvPr/>
        </p:nvSpPr>
        <p:spPr>
          <a:xfrm rot="760850">
            <a:off x="6602170" y="-257011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0" name="Google Shape;330;p31"/>
          <p:cNvSpPr/>
          <p:nvPr/>
        </p:nvSpPr>
        <p:spPr>
          <a:xfrm rot="760850">
            <a:off x="8404867" y="148616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1" name="Google Shape;331;p31"/>
          <p:cNvSpPr/>
          <p:nvPr/>
        </p:nvSpPr>
        <p:spPr>
          <a:xfrm rot="760850">
            <a:off x="-1493697" y="3619984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2" name="Google Shape;332;p31"/>
          <p:cNvSpPr/>
          <p:nvPr/>
        </p:nvSpPr>
        <p:spPr>
          <a:xfrm rot="760850">
            <a:off x="308999" y="4025611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3" name="Google Shape;333;p31"/>
          <p:cNvSpPr/>
          <p:nvPr/>
        </p:nvSpPr>
        <p:spPr>
          <a:xfrm rot="760850">
            <a:off x="2111695" y="4431239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4" name="Google Shape;334;p31"/>
          <p:cNvSpPr/>
          <p:nvPr/>
        </p:nvSpPr>
        <p:spPr>
          <a:xfrm rot="760850">
            <a:off x="3914392" y="4836866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</p:spTree>
    <p:extLst>
      <p:ext uri="{BB962C8B-B14F-4D97-AF65-F5344CB8AC3E}">
        <p14:creationId xmlns:p14="http://schemas.microsoft.com/office/powerpoint/2010/main" val="4222931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2547819" y="270085"/>
            <a:ext cx="34387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Pythonda</a:t>
            </a:r>
            <a:r>
              <a:rPr lang="en-US" dirty="0"/>
              <a:t> list </a:t>
            </a:r>
            <a:r>
              <a:rPr lang="en-US" dirty="0" err="1"/>
              <a:t>tushunchasi</a:t>
            </a:r>
            <a:r>
              <a:rPr lang="en-US" dirty="0"/>
              <a:t>(</a:t>
            </a:r>
            <a:r>
              <a:rPr lang="en-US" dirty="0" err="1"/>
              <a:t>to’plam</a:t>
            </a:r>
            <a:r>
              <a:rPr lang="en-US" dirty="0"/>
              <a:t>) </a:t>
            </a:r>
            <a:r>
              <a:rPr lang="en-US" dirty="0" err="1"/>
              <a:t>lu’gat</a:t>
            </a:r>
            <a:r>
              <a:rPr lang="en-US" dirty="0"/>
              <a:t> 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66577" y="1030152"/>
            <a:ext cx="82012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/>
              <a:t>To'plamlar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nechta</a:t>
            </a:r>
            <a:r>
              <a:rPr lang="en-US" sz="1600" dirty="0"/>
              <a:t> </a:t>
            </a:r>
            <a:r>
              <a:rPr lang="en-US" sz="1600" dirty="0" err="1"/>
              <a:t>elementlarni</a:t>
            </a:r>
            <a:r>
              <a:rPr lang="en-US" sz="1600" dirty="0"/>
              <a:t> </a:t>
            </a:r>
            <a:r>
              <a:rPr lang="en-US" sz="1600" dirty="0" err="1"/>
              <a:t>bitta</a:t>
            </a:r>
            <a:r>
              <a:rPr lang="en-US" sz="1600" dirty="0"/>
              <a:t> </a:t>
            </a:r>
            <a:r>
              <a:rPr lang="en-US" sz="1600" dirty="0" err="1"/>
              <a:t>o'zgaruvchida</a:t>
            </a:r>
            <a:r>
              <a:rPr lang="en-US" sz="1600" dirty="0"/>
              <a:t> </a:t>
            </a:r>
            <a:r>
              <a:rPr lang="en-US" sz="1600" dirty="0" err="1"/>
              <a:t>saqlash</a:t>
            </a:r>
            <a:r>
              <a:rPr lang="en-US" sz="1600" dirty="0"/>
              <a:t> </a:t>
            </a:r>
            <a:r>
              <a:rPr lang="en-US" sz="1600" dirty="0" err="1"/>
              <a:t>uchun</a:t>
            </a:r>
            <a:r>
              <a:rPr lang="en-US" sz="1600" dirty="0"/>
              <a:t> </a:t>
            </a:r>
            <a:r>
              <a:rPr lang="en-US" sz="1600" dirty="0" err="1"/>
              <a:t>ishlatiladi.Set</a:t>
            </a:r>
            <a:r>
              <a:rPr lang="en-US" sz="1600" dirty="0"/>
              <a:t> </a:t>
            </a:r>
            <a:r>
              <a:rPr lang="en-US" sz="1600" dirty="0" err="1"/>
              <a:t>Python’da</a:t>
            </a:r>
            <a:r>
              <a:rPr lang="en-US" sz="1600" dirty="0"/>
              <a:t> </a:t>
            </a:r>
            <a:r>
              <a:rPr lang="en-US" sz="1600" dirty="0" err="1"/>
              <a:t>ma’lumotlar</a:t>
            </a:r>
            <a:r>
              <a:rPr lang="en-US" sz="1600" dirty="0"/>
              <a:t> </a:t>
            </a:r>
            <a:r>
              <a:rPr lang="en-US" sz="1600" dirty="0" err="1"/>
              <a:t>to‘plamini</a:t>
            </a:r>
            <a:r>
              <a:rPr lang="en-US" sz="1600" dirty="0"/>
              <a:t> </a:t>
            </a:r>
            <a:r>
              <a:rPr lang="en-US" sz="1600" dirty="0" err="1"/>
              <a:t>saqlash</a:t>
            </a:r>
            <a:r>
              <a:rPr lang="en-US" sz="1600" dirty="0"/>
              <a:t> </a:t>
            </a:r>
            <a:r>
              <a:rPr lang="en-US" sz="1600" dirty="0" err="1"/>
              <a:t>uchun</a:t>
            </a:r>
            <a:r>
              <a:rPr lang="en-US" sz="1600" dirty="0"/>
              <a:t> </a:t>
            </a:r>
            <a:r>
              <a:rPr lang="en-US" sz="1600" dirty="0" err="1"/>
              <a:t>ishlatiladigan</a:t>
            </a:r>
            <a:r>
              <a:rPr lang="en-US" sz="1600" dirty="0"/>
              <a:t> 4 ta </a:t>
            </a:r>
            <a:r>
              <a:rPr lang="en-US" sz="1600" dirty="0" err="1"/>
              <a:t>o‘rnatilgan</a:t>
            </a:r>
            <a:r>
              <a:rPr lang="en-US" sz="1600" dirty="0"/>
              <a:t> </a:t>
            </a:r>
            <a:r>
              <a:rPr lang="en-US" sz="1600" dirty="0" err="1"/>
              <a:t>ma’lumotlar</a:t>
            </a:r>
            <a:r>
              <a:rPr lang="en-US" sz="1600" dirty="0"/>
              <a:t> </a:t>
            </a:r>
            <a:r>
              <a:rPr lang="en-US" sz="1600" dirty="0" err="1"/>
              <a:t>turlaridan</a:t>
            </a:r>
            <a:r>
              <a:rPr lang="en-US" sz="1600" dirty="0"/>
              <a:t> </a:t>
            </a:r>
            <a:r>
              <a:rPr lang="en-US" sz="1600" dirty="0" err="1"/>
              <a:t>biri</a:t>
            </a:r>
            <a:r>
              <a:rPr lang="en-US" sz="1600" dirty="0"/>
              <a:t> </a:t>
            </a:r>
            <a:r>
              <a:rPr lang="en-US" sz="1600" dirty="0" err="1"/>
              <a:t>bo‘lib</a:t>
            </a:r>
            <a:r>
              <a:rPr lang="en-US" sz="1600" dirty="0"/>
              <a:t>, </a:t>
            </a:r>
            <a:r>
              <a:rPr lang="en-US" sz="1600" dirty="0" err="1"/>
              <a:t>qolgan</a:t>
            </a:r>
            <a:r>
              <a:rPr lang="en-US" sz="1600" dirty="0"/>
              <a:t> 3 </a:t>
            </a:r>
            <a:r>
              <a:rPr lang="en-US" sz="1600" dirty="0" err="1"/>
              <a:t>tasi</a:t>
            </a:r>
            <a:r>
              <a:rPr lang="en-US" sz="1600" dirty="0"/>
              <a:t> </a:t>
            </a:r>
            <a:r>
              <a:rPr lang="en-US" sz="1600" dirty="0" err="1"/>
              <a:t>Ro‘yxat</a:t>
            </a:r>
            <a:r>
              <a:rPr lang="en-US" sz="1600" dirty="0"/>
              <a:t> , Tuple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Lug‘at</a:t>
            </a:r>
            <a:r>
              <a:rPr lang="en-US" sz="1600" dirty="0"/>
              <a:t> </a:t>
            </a:r>
            <a:r>
              <a:rPr lang="en-US" sz="1600" dirty="0" err="1"/>
              <a:t>hisoblanadi</a:t>
            </a:r>
            <a:r>
              <a:rPr lang="en-US" sz="1600" dirty="0"/>
              <a:t>, </a:t>
            </a:r>
            <a:r>
              <a:rPr lang="en-US" sz="1600" dirty="0" err="1"/>
              <a:t>ularning</a:t>
            </a:r>
            <a:r>
              <a:rPr lang="en-US" sz="1600" dirty="0"/>
              <a:t> </a:t>
            </a:r>
            <a:r>
              <a:rPr lang="en-US" sz="1600" dirty="0" err="1"/>
              <a:t>barchasi</a:t>
            </a:r>
            <a:r>
              <a:rPr lang="en-US" sz="1600" dirty="0"/>
              <a:t> </a:t>
            </a:r>
            <a:r>
              <a:rPr lang="en-US" sz="1600" dirty="0" err="1"/>
              <a:t>turli</a:t>
            </a:r>
            <a:r>
              <a:rPr lang="en-US" sz="1600" dirty="0"/>
              <a:t> </a:t>
            </a:r>
            <a:r>
              <a:rPr lang="en-US" sz="1600" dirty="0" err="1"/>
              <a:t>sifat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foydalanishga</a:t>
            </a:r>
            <a:r>
              <a:rPr lang="en-US" sz="1600" dirty="0"/>
              <a:t> </a:t>
            </a:r>
            <a:r>
              <a:rPr lang="en-US" sz="1600" dirty="0" err="1"/>
              <a:t>ega</a:t>
            </a:r>
            <a:r>
              <a:rPr lang="en-US" sz="1600" dirty="0" smtClean="0"/>
              <a:t>.  </a:t>
            </a:r>
            <a:r>
              <a:rPr lang="en-US" sz="1600" b="1" dirty="0" smtClean="0">
                <a:solidFill>
                  <a:srgbClr val="FF0000"/>
                </a:solidFill>
              </a:rPr>
              <a:t>Kod_1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166577" y="3958939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Eslatma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To'plam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elementlarini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o'zgartirish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mumkin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emas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lekin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siz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elementlarni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olib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tashlashingiz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yangi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elementlar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qo'shishingiz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mumkin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 err="1">
                <a:solidFill>
                  <a:srgbClr val="FF0000"/>
                </a:solidFill>
              </a:rPr>
              <a:t>Pythonda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to’plam</a:t>
            </a:r>
            <a:r>
              <a:rPr lang="en-US" dirty="0">
                <a:solidFill>
                  <a:srgbClr val="FF0000"/>
                </a:solidFill>
              </a:rPr>
              <a:t> {</a:t>
            </a:r>
            <a:r>
              <a:rPr lang="en-US" dirty="0" err="1">
                <a:solidFill>
                  <a:srgbClr val="FF0000"/>
                </a:solidFill>
              </a:rPr>
              <a:t>jingalak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qavs</a:t>
            </a:r>
            <a:r>
              <a:rPr lang="en-US" dirty="0">
                <a:solidFill>
                  <a:srgbClr val="FF0000"/>
                </a:solidFill>
              </a:rPr>
              <a:t> } </a:t>
            </a:r>
            <a:r>
              <a:rPr lang="en-US" dirty="0" err="1">
                <a:solidFill>
                  <a:srgbClr val="FF0000"/>
                </a:solidFill>
              </a:rPr>
              <a:t>bilan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yoziladi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38715" y="1248311"/>
            <a:ext cx="78680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/>
              <a:t>To'plam</a:t>
            </a:r>
            <a:r>
              <a:rPr lang="en-US" sz="1600" dirty="0"/>
              <a:t> </a:t>
            </a:r>
            <a:r>
              <a:rPr lang="en-US" sz="1600" dirty="0" err="1"/>
              <a:t>elementlari</a:t>
            </a:r>
            <a:r>
              <a:rPr lang="en-US" sz="1600" dirty="0"/>
              <a:t> </a:t>
            </a:r>
            <a:r>
              <a:rPr lang="en-US" sz="1600" dirty="0" err="1"/>
              <a:t>tartibsiz</a:t>
            </a:r>
            <a:r>
              <a:rPr lang="en-US" sz="1600" dirty="0"/>
              <a:t>, </a:t>
            </a:r>
            <a:r>
              <a:rPr lang="en-US" sz="1600" dirty="0" err="1"/>
              <a:t>o'zgarmas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takroriy</a:t>
            </a:r>
            <a:r>
              <a:rPr lang="en-US" sz="1600" dirty="0"/>
              <a:t> </a:t>
            </a:r>
            <a:r>
              <a:rPr lang="en-US" sz="1600" dirty="0" err="1"/>
              <a:t>qiymatlarga</a:t>
            </a:r>
            <a:r>
              <a:rPr lang="en-US" sz="1600" dirty="0"/>
              <a:t> </a:t>
            </a:r>
            <a:r>
              <a:rPr lang="en-US" sz="1600" dirty="0" err="1"/>
              <a:t>ruxsat</a:t>
            </a:r>
            <a:r>
              <a:rPr lang="en-US" sz="1600" dirty="0"/>
              <a:t> </a:t>
            </a:r>
            <a:r>
              <a:rPr lang="en-US" sz="1600" dirty="0" err="1"/>
              <a:t>bermaydi</a:t>
            </a:r>
            <a:r>
              <a:rPr lang="en-US" sz="1600" dirty="0" smtClean="0"/>
              <a:t>. Python </a:t>
            </a:r>
            <a:r>
              <a:rPr lang="en-US" sz="1600" dirty="0"/>
              <a:t>3.7 </a:t>
            </a:r>
            <a:r>
              <a:rPr lang="en-US" sz="1600" dirty="0" err="1"/>
              <a:t>versiyasidan</a:t>
            </a:r>
            <a:r>
              <a:rPr lang="en-US" sz="1600" dirty="0"/>
              <a:t> </a:t>
            </a:r>
            <a:r>
              <a:rPr lang="en-US" sz="1600" dirty="0" err="1"/>
              <a:t>boshlab</a:t>
            </a:r>
            <a:r>
              <a:rPr lang="en-US" sz="1600" dirty="0"/>
              <a:t> </a:t>
            </a:r>
            <a:r>
              <a:rPr lang="en-US" sz="1600" dirty="0" err="1"/>
              <a:t>lug'atlar</a:t>
            </a:r>
            <a:r>
              <a:rPr lang="en-US" sz="1600" dirty="0"/>
              <a:t> </a:t>
            </a:r>
            <a:r>
              <a:rPr lang="en-US" sz="1600" dirty="0" err="1"/>
              <a:t>tatbiq</a:t>
            </a:r>
            <a:r>
              <a:rPr lang="en-US" sz="1600" dirty="0"/>
              <a:t> </a:t>
            </a:r>
            <a:r>
              <a:rPr lang="en-US" sz="1600" dirty="0" err="1"/>
              <a:t>qilingan</a:t>
            </a:r>
            <a:r>
              <a:rPr lang="en-US" sz="1600" dirty="0"/>
              <a:t> . Python 3.6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undan</a:t>
            </a:r>
            <a:r>
              <a:rPr lang="en-US" sz="1600" dirty="0"/>
              <a:t> </a:t>
            </a:r>
            <a:r>
              <a:rPr lang="en-US" sz="1600" dirty="0" err="1"/>
              <a:t>oldingi</a:t>
            </a:r>
            <a:r>
              <a:rPr lang="en-US" sz="1600" dirty="0"/>
              <a:t> </a:t>
            </a:r>
            <a:r>
              <a:rPr lang="en-US" sz="1600" dirty="0" err="1"/>
              <a:t>versiyalarida</a:t>
            </a:r>
            <a:r>
              <a:rPr lang="en-US" sz="1600" dirty="0"/>
              <a:t> </a:t>
            </a:r>
            <a:r>
              <a:rPr lang="en-US" sz="1600" dirty="0" err="1"/>
              <a:t>lug'atlar</a:t>
            </a:r>
            <a:r>
              <a:rPr lang="en-US" sz="1600" dirty="0"/>
              <a:t> </a:t>
            </a:r>
            <a:r>
              <a:rPr lang="en-US" sz="1600" dirty="0" err="1"/>
              <a:t>tartibsiz</a:t>
            </a:r>
            <a:r>
              <a:rPr lang="en-US" sz="1600" dirty="0"/>
              <a:t> </a:t>
            </a:r>
            <a:r>
              <a:rPr lang="en-US" sz="1600" dirty="0" err="1"/>
              <a:t>shaklda</a:t>
            </a:r>
            <a:r>
              <a:rPr lang="en-US" sz="1600" dirty="0"/>
              <a:t> </a:t>
            </a:r>
            <a:r>
              <a:rPr lang="en-US" sz="1600" dirty="0" err="1"/>
              <a:t>qo’llanilingan</a:t>
            </a:r>
            <a:r>
              <a:rPr lang="en-US" sz="1600" dirty="0"/>
              <a:t> . </a:t>
            </a:r>
            <a:r>
              <a:rPr lang="en-US" sz="1600" dirty="0" err="1"/>
              <a:t>Lug'at</a:t>
            </a:r>
            <a:r>
              <a:rPr lang="en-US" sz="1600" dirty="0"/>
              <a:t> </a:t>
            </a:r>
            <a:r>
              <a:rPr lang="en-US" sz="1600" dirty="0" err="1"/>
              <a:t>elementlari</a:t>
            </a:r>
            <a:r>
              <a:rPr lang="en-US" sz="1600" dirty="0"/>
              <a:t> </a:t>
            </a:r>
            <a:r>
              <a:rPr lang="en-US" sz="1600" dirty="0" err="1"/>
              <a:t>kalit</a:t>
            </a:r>
            <a:r>
              <a:rPr lang="en-US" sz="1600" dirty="0"/>
              <a:t>: </a:t>
            </a:r>
            <a:r>
              <a:rPr lang="en-US" sz="1600" dirty="0" err="1"/>
              <a:t>qiymat</a:t>
            </a:r>
            <a:r>
              <a:rPr lang="en-US" sz="1600" dirty="0"/>
              <a:t> </a:t>
            </a:r>
            <a:r>
              <a:rPr lang="en-US" sz="1600" dirty="0" err="1"/>
              <a:t>juftliklarida</a:t>
            </a:r>
            <a:r>
              <a:rPr lang="en-US" sz="1600" dirty="0"/>
              <a:t> </a:t>
            </a:r>
            <a:r>
              <a:rPr lang="en-US" sz="1600" dirty="0" err="1"/>
              <a:t>taqdim</a:t>
            </a:r>
            <a:r>
              <a:rPr lang="en-US" sz="1600" dirty="0"/>
              <a:t> </a:t>
            </a:r>
            <a:r>
              <a:rPr lang="en-US" sz="1600" dirty="0" err="1"/>
              <a:t>etiladi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kalit</a:t>
            </a:r>
            <a:r>
              <a:rPr lang="en-US" sz="1600" dirty="0"/>
              <a:t> </a:t>
            </a:r>
            <a:r>
              <a:rPr lang="en-US" sz="1600" dirty="0" err="1"/>
              <a:t>nomidan</a:t>
            </a:r>
            <a:r>
              <a:rPr lang="en-US" sz="1600" dirty="0"/>
              <a:t> </a:t>
            </a:r>
            <a:r>
              <a:rPr lang="en-US" sz="1600" dirty="0" err="1"/>
              <a:t>foydalanish</a:t>
            </a:r>
            <a:r>
              <a:rPr lang="en-US" sz="1600" dirty="0"/>
              <a:t> </a:t>
            </a:r>
            <a:r>
              <a:rPr lang="en-US" sz="1600" dirty="0" err="1"/>
              <a:t>mumkin</a:t>
            </a:r>
            <a:r>
              <a:rPr lang="en-US" sz="1600" dirty="0"/>
              <a:t>. </a:t>
            </a:r>
            <a:endParaRPr lang="en-US" sz="1600" dirty="0" smtClean="0"/>
          </a:p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Kod_2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86761" y="3305412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/>
              <a:t>Lug'atlar</a:t>
            </a:r>
            <a:r>
              <a:rPr lang="en-US" dirty="0"/>
              <a:t> </a:t>
            </a:r>
            <a:r>
              <a:rPr lang="en-US" dirty="0" err="1"/>
              <a:t>tartiblangan</a:t>
            </a:r>
            <a:r>
              <a:rPr lang="en-US" dirty="0"/>
              <a:t> </a:t>
            </a:r>
            <a:r>
              <a:rPr lang="en-US" dirty="0" err="1"/>
              <a:t>desak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elementlarning</a:t>
            </a:r>
            <a:r>
              <a:rPr lang="en-US" dirty="0"/>
              <a:t> </a:t>
            </a:r>
            <a:r>
              <a:rPr lang="en-US" dirty="0" err="1"/>
              <a:t>belgilangan</a:t>
            </a:r>
            <a:r>
              <a:rPr lang="en-US" dirty="0"/>
              <a:t> </a:t>
            </a:r>
            <a:r>
              <a:rPr lang="en-US" dirty="0" err="1"/>
              <a:t>tartibi</a:t>
            </a:r>
            <a:r>
              <a:rPr lang="en-US" dirty="0"/>
              <a:t> </a:t>
            </a:r>
            <a:r>
              <a:rPr lang="en-US" dirty="0" err="1"/>
              <a:t>borligini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tartib</a:t>
            </a:r>
            <a:r>
              <a:rPr lang="en-US" dirty="0"/>
              <a:t> </a:t>
            </a:r>
            <a:r>
              <a:rPr lang="en-US" dirty="0" err="1"/>
              <a:t>o'zgarmasligini</a:t>
            </a:r>
            <a:r>
              <a:rPr lang="en-US" dirty="0"/>
              <a:t> </a:t>
            </a:r>
            <a:r>
              <a:rPr lang="en-US" dirty="0" err="1"/>
              <a:t>bildiradi.Tartibsiz</a:t>
            </a:r>
            <a:r>
              <a:rPr lang="en-US" dirty="0"/>
              <a:t> </a:t>
            </a:r>
            <a:r>
              <a:rPr lang="en-US" dirty="0" err="1"/>
              <a:t>degani</a:t>
            </a:r>
            <a:r>
              <a:rPr lang="en-US" dirty="0"/>
              <a:t> </a:t>
            </a:r>
            <a:r>
              <a:rPr lang="en-US" dirty="0" err="1"/>
              <a:t>elementlarning</a:t>
            </a:r>
            <a:r>
              <a:rPr lang="en-US" dirty="0"/>
              <a:t> </a:t>
            </a:r>
            <a:r>
              <a:rPr lang="en-US" dirty="0" err="1"/>
              <a:t>belgilangan</a:t>
            </a:r>
            <a:r>
              <a:rPr lang="en-US" dirty="0"/>
              <a:t> </a:t>
            </a:r>
            <a:r>
              <a:rPr lang="en-US" dirty="0" err="1"/>
              <a:t>tartibi</a:t>
            </a:r>
            <a:r>
              <a:rPr lang="en-US" dirty="0"/>
              <a:t> </a:t>
            </a:r>
            <a:r>
              <a:rPr lang="en-US" dirty="0" err="1"/>
              <a:t>yo'qligini</a:t>
            </a:r>
            <a:r>
              <a:rPr lang="en-US" dirty="0"/>
              <a:t> </a:t>
            </a:r>
            <a:r>
              <a:rPr lang="en-US" dirty="0" err="1"/>
              <a:t>bildiradi</a:t>
            </a:r>
            <a:r>
              <a:rPr lang="en-US" dirty="0"/>
              <a:t>,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yordamida</a:t>
            </a:r>
            <a:r>
              <a:rPr lang="en-US" dirty="0"/>
              <a:t> </a:t>
            </a:r>
            <a:r>
              <a:rPr lang="en-US" dirty="0" err="1"/>
              <a:t>elementga</a:t>
            </a:r>
            <a:r>
              <a:rPr lang="en-US" dirty="0"/>
              <a:t> </a:t>
            </a:r>
            <a:r>
              <a:rPr lang="en-US" dirty="0" err="1"/>
              <a:t>murojaat</a:t>
            </a:r>
            <a:r>
              <a:rPr lang="en-US" dirty="0"/>
              <a:t> </a:t>
            </a:r>
            <a:r>
              <a:rPr lang="en-US" dirty="0" err="1"/>
              <a:t>qila</a:t>
            </a:r>
            <a:r>
              <a:rPr lang="en-US" dirty="0"/>
              <a:t> </a:t>
            </a:r>
            <a:r>
              <a:rPr lang="en-US" dirty="0" err="1"/>
              <a:t>olmaysiz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>
            <a:spLocks noGrp="1"/>
          </p:cNvSpPr>
          <p:nvPr>
            <p:ph type="ctrTitle"/>
          </p:nvPr>
        </p:nvSpPr>
        <p:spPr>
          <a:xfrm rot="-78084" flipH="1">
            <a:off x="1401832" y="2186249"/>
            <a:ext cx="6340335" cy="7721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Lugatlar</a:t>
            </a:r>
            <a:r>
              <a:rPr lang="en-US" dirty="0"/>
              <a:t> </a:t>
            </a:r>
            <a:r>
              <a:rPr lang="en-US" dirty="0" err="1"/>
              <a:t>ustida</a:t>
            </a:r>
            <a:r>
              <a:rPr lang="en-US" dirty="0"/>
              <a:t> </a:t>
            </a:r>
            <a:r>
              <a:rPr lang="en-US" dirty="0" err="1"/>
              <a:t>amallar</a:t>
            </a:r>
            <a:endParaRPr dirty="0"/>
          </a:p>
        </p:txBody>
      </p:sp>
      <p:sp>
        <p:nvSpPr>
          <p:cNvPr id="314" name="Google Shape;314;p31"/>
          <p:cNvSpPr txBox="1">
            <a:spLocks noGrp="1"/>
          </p:cNvSpPr>
          <p:nvPr>
            <p:ph type="title" idx="2"/>
          </p:nvPr>
        </p:nvSpPr>
        <p:spPr>
          <a:xfrm rot="-78062">
            <a:off x="3937787" y="1073711"/>
            <a:ext cx="1268427" cy="8855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grpSp>
        <p:nvGrpSpPr>
          <p:cNvPr id="315" name="Google Shape;315;p31"/>
          <p:cNvGrpSpPr/>
          <p:nvPr/>
        </p:nvGrpSpPr>
        <p:grpSpPr>
          <a:xfrm rot="10800000" flipH="1">
            <a:off x="511375" y="337645"/>
            <a:ext cx="403720" cy="403720"/>
            <a:chOff x="7876975" y="539500"/>
            <a:chExt cx="553800" cy="553800"/>
          </a:xfrm>
        </p:grpSpPr>
        <p:cxnSp>
          <p:nvCxnSpPr>
            <p:cNvPr id="316" name="Google Shape;316;p31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31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8" name="Google Shape;318;p31"/>
          <p:cNvGrpSpPr/>
          <p:nvPr/>
        </p:nvGrpSpPr>
        <p:grpSpPr>
          <a:xfrm rot="10800000" flipH="1">
            <a:off x="8228912" y="4402132"/>
            <a:ext cx="403720" cy="403720"/>
            <a:chOff x="7876975" y="539500"/>
            <a:chExt cx="553800" cy="553800"/>
          </a:xfrm>
        </p:grpSpPr>
        <p:cxnSp>
          <p:nvCxnSpPr>
            <p:cNvPr id="319" name="Google Shape;319;p31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31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1" name="Google Shape;321;p31"/>
          <p:cNvGrpSpPr/>
          <p:nvPr/>
        </p:nvGrpSpPr>
        <p:grpSpPr>
          <a:xfrm rot="10800000" flipH="1">
            <a:off x="8228925" y="2369895"/>
            <a:ext cx="403720" cy="403720"/>
            <a:chOff x="7876975" y="539500"/>
            <a:chExt cx="553800" cy="553800"/>
          </a:xfrm>
        </p:grpSpPr>
        <p:cxnSp>
          <p:nvCxnSpPr>
            <p:cNvPr id="322" name="Google Shape;322;p31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1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4" name="Google Shape;324;p31"/>
          <p:cNvGrpSpPr/>
          <p:nvPr/>
        </p:nvGrpSpPr>
        <p:grpSpPr>
          <a:xfrm rot="10800000" flipH="1">
            <a:off x="511387" y="2369882"/>
            <a:ext cx="403720" cy="403720"/>
            <a:chOff x="7876975" y="539500"/>
            <a:chExt cx="553800" cy="553800"/>
          </a:xfrm>
        </p:grpSpPr>
        <p:cxnSp>
          <p:nvCxnSpPr>
            <p:cNvPr id="325" name="Google Shape;325;p31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31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7" name="Google Shape;327;p31"/>
          <p:cNvSpPr/>
          <p:nvPr/>
        </p:nvSpPr>
        <p:spPr>
          <a:xfrm rot="760850">
            <a:off x="2996778" y="-1068266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28" name="Google Shape;328;p31"/>
          <p:cNvSpPr/>
          <p:nvPr/>
        </p:nvSpPr>
        <p:spPr>
          <a:xfrm rot="760850">
            <a:off x="4799474" y="-662639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29" name="Google Shape;329;p31"/>
          <p:cNvSpPr/>
          <p:nvPr/>
        </p:nvSpPr>
        <p:spPr>
          <a:xfrm rot="760850">
            <a:off x="6602170" y="-257011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0" name="Google Shape;330;p31"/>
          <p:cNvSpPr/>
          <p:nvPr/>
        </p:nvSpPr>
        <p:spPr>
          <a:xfrm rot="760850">
            <a:off x="8404867" y="148616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1" name="Google Shape;331;p31"/>
          <p:cNvSpPr/>
          <p:nvPr/>
        </p:nvSpPr>
        <p:spPr>
          <a:xfrm rot="760850">
            <a:off x="-1493697" y="3619984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2" name="Google Shape;332;p31"/>
          <p:cNvSpPr/>
          <p:nvPr/>
        </p:nvSpPr>
        <p:spPr>
          <a:xfrm rot="760850">
            <a:off x="308999" y="4025611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3" name="Google Shape;333;p31"/>
          <p:cNvSpPr/>
          <p:nvPr/>
        </p:nvSpPr>
        <p:spPr>
          <a:xfrm rot="760850">
            <a:off x="2111695" y="4431239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334" name="Google Shape;334;p31"/>
          <p:cNvSpPr/>
          <p:nvPr/>
        </p:nvSpPr>
        <p:spPr>
          <a:xfrm rot="760850">
            <a:off x="3914392" y="4836866"/>
            <a:ext cx="1671604" cy="13759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body" idx="1"/>
          </p:nvPr>
        </p:nvSpPr>
        <p:spPr>
          <a:xfrm>
            <a:off x="4517012" y="539492"/>
            <a:ext cx="3711900" cy="23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Clr>
                <a:srgbClr val="273D40"/>
              </a:buClr>
              <a:buSzPts val="600"/>
              <a:buNone/>
            </a:pPr>
            <a:r>
              <a:rPr lang="en-US" dirty="0" err="1"/>
              <a:t>Lug'atlar</a:t>
            </a:r>
            <a:r>
              <a:rPr lang="en-US" dirty="0"/>
              <a:t> </a:t>
            </a:r>
            <a:r>
              <a:rPr lang="en-US" dirty="0" err="1"/>
              <a:t>o'zgaruvchan</a:t>
            </a:r>
            <a:r>
              <a:rPr lang="en-US" dirty="0"/>
              <a:t>, </a:t>
            </a:r>
            <a:r>
              <a:rPr lang="en-US" dirty="0" err="1"/>
              <a:t>ya'ni</a:t>
            </a:r>
            <a:r>
              <a:rPr lang="en-US" dirty="0"/>
              <a:t> </a:t>
            </a:r>
            <a:r>
              <a:rPr lang="en-US" dirty="0" err="1"/>
              <a:t>lug'at</a:t>
            </a:r>
            <a:r>
              <a:rPr lang="en-US" dirty="0"/>
              <a:t> </a:t>
            </a:r>
            <a:r>
              <a:rPr lang="en-US" dirty="0" err="1"/>
              <a:t>yaratilgandan</a:t>
            </a:r>
            <a:r>
              <a:rPr lang="en-US" dirty="0"/>
              <a:t> </a:t>
            </a:r>
            <a:r>
              <a:rPr lang="en-US" dirty="0" err="1"/>
              <a:t>so'ng</a:t>
            </a:r>
            <a:r>
              <a:rPr lang="en-US" dirty="0"/>
              <a:t> </a:t>
            </a:r>
            <a:r>
              <a:rPr lang="en-US" dirty="0" err="1"/>
              <a:t>elementlarni</a:t>
            </a:r>
            <a:r>
              <a:rPr lang="en-US" dirty="0"/>
              <a:t> </a:t>
            </a:r>
            <a:r>
              <a:rPr lang="en-US" dirty="0" err="1"/>
              <a:t>o'zgartirishimiz</a:t>
            </a:r>
            <a:r>
              <a:rPr lang="en-US" dirty="0"/>
              <a:t>, </a:t>
            </a:r>
            <a:r>
              <a:rPr lang="en-US" dirty="0" err="1"/>
              <a:t>qo'shishimiz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tashlashimiz</a:t>
            </a:r>
            <a:r>
              <a:rPr lang="en-US" dirty="0"/>
              <a:t> </a:t>
            </a:r>
            <a:r>
              <a:rPr lang="en-US" dirty="0" err="1"/>
              <a:t>mumkin.Lug'atlarda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kalitga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ikkita</a:t>
            </a:r>
            <a:r>
              <a:rPr lang="en-US" dirty="0"/>
              <a:t> element </a:t>
            </a:r>
            <a:r>
              <a:rPr lang="en-US" dirty="0" err="1"/>
              <a:t>bo'lishi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 smtClean="0"/>
              <a:t>:  </a:t>
            </a:r>
            <a:r>
              <a:rPr lang="en-US" b="1" dirty="0" smtClean="0">
                <a:solidFill>
                  <a:srgbClr val="FF0000"/>
                </a:solidFill>
              </a:rPr>
              <a:t>Kod_3</a:t>
            </a:r>
          </a:p>
          <a:p>
            <a:pPr marL="0" lvl="0" indent="0" algn="ctr">
              <a:buClr>
                <a:srgbClr val="273D40"/>
              </a:buClr>
              <a:buSzPts val="600"/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lvl="0" indent="0" algn="ctr">
              <a:buClr>
                <a:srgbClr val="273D40"/>
              </a:buClr>
              <a:buSzPts val="600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grpSp>
        <p:nvGrpSpPr>
          <p:cNvPr id="342" name="Google Shape;342;p32"/>
          <p:cNvGrpSpPr/>
          <p:nvPr/>
        </p:nvGrpSpPr>
        <p:grpSpPr>
          <a:xfrm>
            <a:off x="8228912" y="337632"/>
            <a:ext cx="403720" cy="403720"/>
            <a:chOff x="7876975" y="539500"/>
            <a:chExt cx="553800" cy="553800"/>
          </a:xfrm>
        </p:grpSpPr>
        <p:cxnSp>
          <p:nvCxnSpPr>
            <p:cNvPr id="343" name="Google Shape;343;p32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344;p32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Рисунок 2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9" r="24529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870791" y="1038530"/>
            <a:ext cx="51638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Kodimizda</a:t>
            </a:r>
            <a:r>
              <a:rPr lang="en-US" dirty="0"/>
              <a:t> </a:t>
            </a:r>
            <a:r>
              <a:rPr lang="en-US" dirty="0" err="1"/>
              <a:t>lug’atda</a:t>
            </a:r>
            <a:r>
              <a:rPr lang="en-US" dirty="0"/>
              <a:t> </a:t>
            </a:r>
            <a:r>
              <a:rPr lang="en-US" dirty="0" err="1"/>
              <a:t>ko’p</a:t>
            </a:r>
            <a:r>
              <a:rPr lang="en-US" dirty="0"/>
              <a:t>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berib</a:t>
            </a:r>
            <a:r>
              <a:rPr lang="en-US" dirty="0"/>
              <a:t> </a:t>
            </a:r>
            <a:r>
              <a:rPr lang="en-US" dirty="0" err="1"/>
              <a:t>yubordik</a:t>
            </a:r>
            <a:r>
              <a:rPr lang="en-US" dirty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qanchaligini</a:t>
            </a:r>
            <a:r>
              <a:rPr lang="en-US" dirty="0"/>
              <a:t> </a:t>
            </a:r>
            <a:r>
              <a:rPr lang="en-US" dirty="0" err="1"/>
              <a:t>sanashga</a:t>
            </a:r>
            <a:r>
              <a:rPr lang="en-US" dirty="0"/>
              <a:t> </a:t>
            </a:r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() </a:t>
            </a:r>
            <a:r>
              <a:rPr lang="en-US" dirty="0" err="1"/>
              <a:t>metodini</a:t>
            </a:r>
            <a:r>
              <a:rPr lang="en-US" dirty="0"/>
              <a:t> </a:t>
            </a:r>
            <a:r>
              <a:rPr lang="en-US" dirty="0" err="1"/>
              <a:t>yodga</a:t>
            </a:r>
            <a:r>
              <a:rPr lang="en-US" dirty="0"/>
              <a:t> </a:t>
            </a:r>
            <a:r>
              <a:rPr lang="en-US" dirty="0" err="1"/>
              <a:t>olaylik</a:t>
            </a:r>
            <a:r>
              <a:rPr lang="en-US" dirty="0"/>
              <a:t>. </a:t>
            </a:r>
            <a:r>
              <a:rPr lang="en-US" dirty="0" err="1"/>
              <a:t>Ro’yxat</a:t>
            </a:r>
            <a:r>
              <a:rPr lang="en-US" dirty="0"/>
              <a:t> </a:t>
            </a:r>
            <a:r>
              <a:rPr lang="en-US" dirty="0" err="1"/>
              <a:t>elementlar</a:t>
            </a:r>
            <a:r>
              <a:rPr lang="en-US" dirty="0"/>
              <a:t> </a:t>
            </a:r>
            <a:r>
              <a:rPr lang="en-US" dirty="0" err="1"/>
              <a:t>sonini</a:t>
            </a:r>
            <a:r>
              <a:rPr lang="en-US" dirty="0"/>
              <a:t> </a:t>
            </a:r>
            <a:r>
              <a:rPr lang="en-US" dirty="0" err="1"/>
              <a:t>ishlatish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</a:t>
            </a:r>
            <a:r>
              <a:rPr lang="en-US" dirty="0"/>
              <a:t> </a:t>
            </a:r>
            <a:r>
              <a:rPr lang="en-US" dirty="0" err="1"/>
              <a:t>funksiyamiz</a:t>
            </a:r>
            <a:r>
              <a:rPr lang="en-US" dirty="0"/>
              <a:t> </a:t>
            </a:r>
            <a:r>
              <a:rPr lang="en-US" dirty="0" err="1"/>
              <a:t>edi</a:t>
            </a:r>
            <a:r>
              <a:rPr lang="en-US" dirty="0"/>
              <a:t> </a:t>
            </a:r>
            <a:r>
              <a:rPr lang="en-US" dirty="0" err="1"/>
              <a:t>shundaymi</a:t>
            </a:r>
            <a:r>
              <a:rPr lang="en-US" dirty="0" smtClean="0"/>
              <a:t>.  </a:t>
            </a:r>
            <a:r>
              <a:rPr lang="en-US" b="1" dirty="0" smtClean="0">
                <a:solidFill>
                  <a:srgbClr val="FF0000"/>
                </a:solidFill>
              </a:rPr>
              <a:t>Kod_4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97958" y="2252038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/>
              <a:t>Lugatga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bo’lishi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hohlagan</a:t>
            </a:r>
            <a:r>
              <a:rPr lang="en-US" dirty="0"/>
              <a:t> </a:t>
            </a:r>
            <a:r>
              <a:rPr lang="en-US" dirty="0" err="1"/>
              <a:t>turdagi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turidan</a:t>
            </a:r>
            <a:r>
              <a:rPr lang="en-US" dirty="0"/>
              <a:t> </a:t>
            </a:r>
            <a:r>
              <a:rPr lang="en-US" dirty="0" err="1"/>
              <a:t>foydalangan</a:t>
            </a:r>
            <a:r>
              <a:rPr lang="en-US" dirty="0"/>
              <a:t> </a:t>
            </a:r>
            <a:r>
              <a:rPr lang="en-US" dirty="0" err="1"/>
              <a:t>holda</a:t>
            </a:r>
            <a:r>
              <a:rPr lang="en-US" dirty="0"/>
              <a:t> </a:t>
            </a:r>
            <a:r>
              <a:rPr lang="en-US" dirty="0" err="1"/>
              <a:t>lug’at</a:t>
            </a:r>
            <a:r>
              <a:rPr lang="en-US" dirty="0"/>
              <a:t>(</a:t>
            </a:r>
            <a:r>
              <a:rPr lang="en-US" dirty="0" err="1"/>
              <a:t>dict</a:t>
            </a:r>
            <a:r>
              <a:rPr lang="en-US" dirty="0"/>
              <a:t>) </a:t>
            </a:r>
            <a:r>
              <a:rPr lang="en-US" dirty="0" err="1"/>
              <a:t>yaratishimiz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0000"/>
                </a:solidFill>
              </a:rPr>
              <a:t>Kod_5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3661144" y="769171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Biz ‘</a:t>
            </a:r>
            <a:r>
              <a:rPr lang="en-US" dirty="0" err="1"/>
              <a:t>o’tkan</a:t>
            </a:r>
            <a:r>
              <a:rPr lang="en-US" dirty="0"/>
              <a:t> </a:t>
            </a:r>
            <a:r>
              <a:rPr lang="en-US" dirty="0" err="1"/>
              <a:t>darslarimizda</a:t>
            </a:r>
            <a:r>
              <a:rPr lang="en-US" dirty="0"/>
              <a:t> type() </a:t>
            </a:r>
            <a:r>
              <a:rPr lang="en-US" dirty="0" err="1"/>
              <a:t>funksiyasi</a:t>
            </a:r>
            <a:r>
              <a:rPr lang="en-US" dirty="0"/>
              <a:t> </a:t>
            </a:r>
            <a:r>
              <a:rPr lang="en-US" dirty="0" err="1"/>
              <a:t>haqida</a:t>
            </a:r>
            <a:r>
              <a:rPr lang="en-US" dirty="0"/>
              <a:t> </a:t>
            </a:r>
            <a:r>
              <a:rPr lang="en-US" dirty="0" err="1"/>
              <a:t>gaplashgan</a:t>
            </a:r>
            <a:r>
              <a:rPr lang="en-US" dirty="0"/>
              <a:t> </a:t>
            </a:r>
            <a:r>
              <a:rPr lang="en-US" dirty="0" err="1"/>
              <a:t>edik</a:t>
            </a:r>
            <a:r>
              <a:rPr lang="en-US" dirty="0"/>
              <a:t>. </a:t>
            </a:r>
            <a:r>
              <a:rPr lang="en-US" dirty="0" err="1"/>
              <a:t>Ya’ni</a:t>
            </a:r>
            <a:r>
              <a:rPr lang="en-US" dirty="0"/>
              <a:t> </a:t>
            </a:r>
            <a:r>
              <a:rPr lang="en-US" dirty="0" err="1"/>
              <a:t>qay</a:t>
            </a:r>
            <a:r>
              <a:rPr lang="en-US" dirty="0"/>
              <a:t> </a:t>
            </a:r>
            <a:r>
              <a:rPr lang="en-US" dirty="0" err="1"/>
              <a:t>turdagi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turidan</a:t>
            </a:r>
            <a:r>
              <a:rPr lang="en-US" dirty="0"/>
              <a:t> </a:t>
            </a:r>
            <a:r>
              <a:rPr lang="en-US" dirty="0" err="1"/>
              <a:t>foydalanayotgan</a:t>
            </a:r>
            <a:r>
              <a:rPr lang="en-US" dirty="0"/>
              <a:t> </a:t>
            </a:r>
            <a:r>
              <a:rPr lang="en-US" dirty="0" err="1"/>
              <a:t>ekanligimizni</a:t>
            </a:r>
            <a:r>
              <a:rPr lang="en-US" dirty="0"/>
              <a:t> </a:t>
            </a:r>
            <a:r>
              <a:rPr lang="en-US" dirty="0" err="1"/>
              <a:t>bilish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type() </a:t>
            </a:r>
            <a:r>
              <a:rPr lang="en-US" dirty="0" err="1"/>
              <a:t>metodini</a:t>
            </a:r>
            <a:r>
              <a:rPr lang="en-US" dirty="0"/>
              <a:t> </a:t>
            </a:r>
            <a:r>
              <a:rPr lang="en-US" dirty="0" err="1"/>
              <a:t>ishlatgan</a:t>
            </a:r>
            <a:r>
              <a:rPr lang="en-US" dirty="0"/>
              <a:t> </a:t>
            </a:r>
            <a:r>
              <a:rPr lang="en-US" dirty="0" err="1"/>
              <a:t>edik</a:t>
            </a:r>
            <a:r>
              <a:rPr lang="en-US" dirty="0"/>
              <a:t>.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Kod_5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5"/>
          <p:cNvSpPr txBox="1">
            <a:spLocks noGrp="1"/>
          </p:cNvSpPr>
          <p:nvPr>
            <p:ph type="ctrTitle"/>
          </p:nvPr>
        </p:nvSpPr>
        <p:spPr>
          <a:xfrm rot="268" flipH="1">
            <a:off x="720000" y="539799"/>
            <a:ext cx="7704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Elelmentlarga</a:t>
            </a:r>
            <a:r>
              <a:rPr lang="en-US" dirty="0"/>
              <a:t> </a:t>
            </a:r>
            <a:r>
              <a:rPr lang="en-US" dirty="0" err="1"/>
              <a:t>kirish</a:t>
            </a:r>
            <a:r>
              <a:rPr lang="en-US" dirty="0"/>
              <a:t>: </a:t>
            </a:r>
            <a:endParaRPr dirty="0"/>
          </a:p>
        </p:txBody>
      </p:sp>
      <p:grpSp>
        <p:nvGrpSpPr>
          <p:cNvPr id="422" name="Google Shape;422;p35"/>
          <p:cNvGrpSpPr/>
          <p:nvPr/>
        </p:nvGrpSpPr>
        <p:grpSpPr>
          <a:xfrm flipH="1">
            <a:off x="511350" y="1356832"/>
            <a:ext cx="403720" cy="403720"/>
            <a:chOff x="7876975" y="539500"/>
            <a:chExt cx="553800" cy="553800"/>
          </a:xfrm>
        </p:grpSpPr>
        <p:cxnSp>
          <p:nvCxnSpPr>
            <p:cNvPr id="423" name="Google Shape;423;p35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35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Прямоугольник 13"/>
          <p:cNvSpPr/>
          <p:nvPr/>
        </p:nvSpPr>
        <p:spPr>
          <a:xfrm>
            <a:off x="649414" y="1553704"/>
            <a:ext cx="79913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Kvadrat</a:t>
            </a:r>
            <a:r>
              <a:rPr lang="en-US" dirty="0"/>
              <a:t> </a:t>
            </a:r>
            <a:r>
              <a:rPr lang="en-US" dirty="0" err="1"/>
              <a:t>qavs</a:t>
            </a:r>
            <a:r>
              <a:rPr lang="en-US" dirty="0"/>
              <a:t> </a:t>
            </a:r>
            <a:r>
              <a:rPr lang="en-US" dirty="0" err="1"/>
              <a:t>ichidagi</a:t>
            </a:r>
            <a:r>
              <a:rPr lang="en-US" dirty="0"/>
              <a:t> </a:t>
            </a:r>
            <a:r>
              <a:rPr lang="en-US" dirty="0" err="1"/>
              <a:t>kalit</a:t>
            </a:r>
            <a:r>
              <a:rPr lang="en-US" dirty="0"/>
              <a:t> </a:t>
            </a:r>
            <a:r>
              <a:rPr lang="en-US" dirty="0" err="1"/>
              <a:t>nomiga</a:t>
            </a:r>
            <a:r>
              <a:rPr lang="en-US" dirty="0"/>
              <a:t> </a:t>
            </a:r>
            <a:r>
              <a:rPr lang="en-US" dirty="0" err="1"/>
              <a:t>murojat</a:t>
            </a:r>
            <a:r>
              <a:rPr lang="en-US" dirty="0"/>
              <a:t> </a:t>
            </a:r>
            <a:r>
              <a:rPr lang="en-US" dirty="0" err="1"/>
              <a:t>qilib</a:t>
            </a:r>
            <a:r>
              <a:rPr lang="en-US" dirty="0"/>
              <a:t> </a:t>
            </a:r>
            <a:r>
              <a:rPr lang="en-US" dirty="0" err="1"/>
              <a:t>lu,g’at</a:t>
            </a:r>
            <a:r>
              <a:rPr lang="en-US" dirty="0"/>
              <a:t> </a:t>
            </a:r>
            <a:r>
              <a:rPr lang="en-US" dirty="0" err="1"/>
              <a:t>elementlariga</a:t>
            </a:r>
            <a:r>
              <a:rPr lang="en-US" dirty="0"/>
              <a:t> </a:t>
            </a:r>
            <a:r>
              <a:rPr lang="en-US" dirty="0" err="1"/>
              <a:t>kirishingiz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FF0000"/>
                </a:solidFill>
              </a:rPr>
              <a:t>Kod_6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-198474" y="2417862"/>
            <a:ext cx="69419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get() </a:t>
            </a:r>
            <a:r>
              <a:rPr lang="en-US" dirty="0" err="1"/>
              <a:t>Sizga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beradigan</a:t>
            </a:r>
            <a:r>
              <a:rPr lang="en-US" dirty="0"/>
              <a:t> </a:t>
            </a:r>
            <a:r>
              <a:rPr lang="en-US" dirty="0" err="1"/>
              <a:t>usul</a:t>
            </a:r>
            <a:r>
              <a:rPr lang="en-US" dirty="0"/>
              <a:t> ham </a:t>
            </a:r>
            <a:r>
              <a:rPr lang="en-US" dirty="0" err="1"/>
              <a:t>mavjud</a:t>
            </a:r>
            <a:r>
              <a:rPr lang="en-US" dirty="0" smtClean="0"/>
              <a:t>:  </a:t>
            </a:r>
            <a:r>
              <a:rPr lang="en-US" b="1" dirty="0" smtClean="0">
                <a:solidFill>
                  <a:srgbClr val="FF0000"/>
                </a:solidFill>
              </a:rPr>
              <a:t>Kod_7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-56707" y="3167833"/>
            <a:ext cx="74924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keys() </a:t>
            </a:r>
            <a:r>
              <a:rPr lang="en-US" dirty="0" err="1"/>
              <a:t>metodi</a:t>
            </a:r>
            <a:r>
              <a:rPr lang="en-US" dirty="0"/>
              <a:t> </a:t>
            </a:r>
            <a:r>
              <a:rPr lang="en-US" dirty="0" err="1"/>
              <a:t>lug’atdagi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kalitlarning</a:t>
            </a:r>
            <a:r>
              <a:rPr lang="en-US" dirty="0"/>
              <a:t> </a:t>
            </a:r>
            <a:r>
              <a:rPr lang="en-US" dirty="0" err="1"/>
              <a:t>ro’yxatini</a:t>
            </a:r>
            <a:r>
              <a:rPr lang="en-US" dirty="0"/>
              <a:t> </a:t>
            </a:r>
            <a:r>
              <a:rPr lang="en-US" dirty="0" err="1"/>
              <a:t>qaytaradi</a:t>
            </a:r>
            <a:r>
              <a:rPr lang="en-US" dirty="0"/>
              <a:t>: </a:t>
            </a:r>
            <a:r>
              <a:rPr lang="en-US" b="1" dirty="0" smtClean="0">
                <a:solidFill>
                  <a:srgbClr val="FF0000"/>
                </a:solidFill>
              </a:rPr>
              <a:t>Kod_8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-198474" y="3841228"/>
            <a:ext cx="7329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values() </a:t>
            </a:r>
            <a:r>
              <a:rPr lang="en-US" dirty="0" err="1"/>
              <a:t>lug’atdagi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ro’yxatini</a:t>
            </a:r>
            <a:r>
              <a:rPr lang="en-US" dirty="0"/>
              <a:t> </a:t>
            </a:r>
            <a:r>
              <a:rPr lang="en-US" dirty="0" err="1"/>
              <a:t>qaytaradi</a:t>
            </a:r>
            <a:r>
              <a:rPr lang="en-US" dirty="0" smtClean="0"/>
              <a:t>:  </a:t>
            </a:r>
            <a:r>
              <a:rPr lang="en-US" b="1" dirty="0" smtClean="0">
                <a:solidFill>
                  <a:srgbClr val="FF0000"/>
                </a:solidFill>
              </a:rPr>
              <a:t>Kod_9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/>
          <p:nvPr/>
        </p:nvSpPr>
        <p:spPr>
          <a:xfrm rot="-777176">
            <a:off x="-354780" y="429814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430" name="Google Shape;430;p36"/>
          <p:cNvSpPr/>
          <p:nvPr/>
        </p:nvSpPr>
        <p:spPr>
          <a:xfrm rot="-777176">
            <a:off x="1445971" y="15639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431" name="Google Shape;431;p36"/>
          <p:cNvSpPr/>
          <p:nvPr/>
        </p:nvSpPr>
        <p:spPr>
          <a:xfrm rot="-777176">
            <a:off x="3246723" y="-398536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432" name="Google Shape;432;p36"/>
          <p:cNvSpPr/>
          <p:nvPr/>
        </p:nvSpPr>
        <p:spPr>
          <a:xfrm rot="-777176">
            <a:off x="5047474" y="-812712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433" name="Google Shape;433;p36"/>
          <p:cNvSpPr/>
          <p:nvPr/>
        </p:nvSpPr>
        <p:spPr>
          <a:xfrm rot="-777176">
            <a:off x="3108845" y="4501464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434" name="Google Shape;434;p36"/>
          <p:cNvSpPr/>
          <p:nvPr/>
        </p:nvSpPr>
        <p:spPr>
          <a:xfrm rot="-777176">
            <a:off x="4909596" y="4087289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435" name="Google Shape;435;p36"/>
          <p:cNvSpPr/>
          <p:nvPr/>
        </p:nvSpPr>
        <p:spPr>
          <a:xfrm rot="-777176">
            <a:off x="6710348" y="3673114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sp>
        <p:nvSpPr>
          <p:cNvPr id="436" name="Google Shape;436;p36"/>
          <p:cNvSpPr/>
          <p:nvPr/>
        </p:nvSpPr>
        <p:spPr>
          <a:xfrm rot="-777176">
            <a:off x="8511099" y="3258938"/>
            <a:ext cx="1671606" cy="13759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nton"/>
              </a:rPr>
              <a:t>ICE</a:t>
            </a:r>
          </a:p>
        </p:txBody>
      </p:sp>
      <p:grpSp>
        <p:nvGrpSpPr>
          <p:cNvPr id="438" name="Google Shape;438;p36"/>
          <p:cNvGrpSpPr/>
          <p:nvPr/>
        </p:nvGrpSpPr>
        <p:grpSpPr>
          <a:xfrm>
            <a:off x="8228912" y="337645"/>
            <a:ext cx="403720" cy="403720"/>
            <a:chOff x="7876975" y="539500"/>
            <a:chExt cx="553800" cy="553800"/>
          </a:xfrm>
        </p:grpSpPr>
        <p:cxnSp>
          <p:nvCxnSpPr>
            <p:cNvPr id="439" name="Google Shape;439;p3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" name="Google Shape;440;p3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1" name="Google Shape;441;p36"/>
          <p:cNvGrpSpPr/>
          <p:nvPr/>
        </p:nvGrpSpPr>
        <p:grpSpPr>
          <a:xfrm>
            <a:off x="8228925" y="2369895"/>
            <a:ext cx="403720" cy="403720"/>
            <a:chOff x="7876975" y="539500"/>
            <a:chExt cx="553800" cy="553800"/>
          </a:xfrm>
        </p:grpSpPr>
        <p:cxnSp>
          <p:nvCxnSpPr>
            <p:cNvPr id="442" name="Google Shape;442;p3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Google Shape;443;p3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4" name="Google Shape;444;p36"/>
          <p:cNvGrpSpPr/>
          <p:nvPr/>
        </p:nvGrpSpPr>
        <p:grpSpPr>
          <a:xfrm>
            <a:off x="511387" y="2369895"/>
            <a:ext cx="403720" cy="403720"/>
            <a:chOff x="7876975" y="539500"/>
            <a:chExt cx="553800" cy="553800"/>
          </a:xfrm>
        </p:grpSpPr>
        <p:cxnSp>
          <p:nvCxnSpPr>
            <p:cNvPr id="445" name="Google Shape;445;p3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" name="Google Shape;446;p3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7" name="Google Shape;447;p36"/>
          <p:cNvGrpSpPr/>
          <p:nvPr/>
        </p:nvGrpSpPr>
        <p:grpSpPr>
          <a:xfrm>
            <a:off x="511387" y="3386007"/>
            <a:ext cx="403720" cy="403720"/>
            <a:chOff x="7876975" y="539500"/>
            <a:chExt cx="553800" cy="553800"/>
          </a:xfrm>
        </p:grpSpPr>
        <p:cxnSp>
          <p:nvCxnSpPr>
            <p:cNvPr id="448" name="Google Shape;448;p36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449;p36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Прямоугольник 2"/>
          <p:cNvSpPr/>
          <p:nvPr/>
        </p:nvSpPr>
        <p:spPr>
          <a:xfrm>
            <a:off x="569397" y="1385343"/>
            <a:ext cx="61447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items() </a:t>
            </a:r>
            <a:r>
              <a:rPr lang="en-US" dirty="0" err="1"/>
              <a:t>lug’atdagi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elementni</a:t>
            </a:r>
            <a:r>
              <a:rPr lang="en-US" dirty="0"/>
              <a:t> </a:t>
            </a:r>
            <a:r>
              <a:rPr lang="en-US" dirty="0" err="1"/>
              <a:t>turple</a:t>
            </a:r>
            <a:r>
              <a:rPr lang="en-US" dirty="0"/>
              <a:t> </a:t>
            </a:r>
            <a:r>
              <a:rPr lang="en-US" dirty="0" err="1"/>
              <a:t>ko’rinishida</a:t>
            </a:r>
            <a:r>
              <a:rPr lang="en-US" dirty="0"/>
              <a:t> </a:t>
            </a:r>
            <a:r>
              <a:rPr lang="en-US" dirty="0" err="1"/>
              <a:t>qaytaradi</a:t>
            </a:r>
            <a:r>
              <a:rPr lang="en-US" dirty="0"/>
              <a:t>: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Kod_10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69397" y="2310140"/>
            <a:ext cx="73624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Lug’atda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kalit</a:t>
            </a:r>
            <a:r>
              <a:rPr lang="en-US" dirty="0"/>
              <a:t> </a:t>
            </a:r>
            <a:r>
              <a:rPr lang="en-US" dirty="0" err="1"/>
              <a:t>mavjudligini</a:t>
            </a:r>
            <a:r>
              <a:rPr lang="en-US" dirty="0"/>
              <a:t> </a:t>
            </a:r>
            <a:r>
              <a:rPr lang="en-US" dirty="0" err="1"/>
              <a:t>aniqlash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in </a:t>
            </a:r>
            <a:r>
              <a:rPr lang="en-US" dirty="0" err="1"/>
              <a:t>kalit</a:t>
            </a:r>
            <a:r>
              <a:rPr lang="en-US" dirty="0"/>
              <a:t> </a:t>
            </a:r>
            <a:r>
              <a:rPr lang="en-US" dirty="0" err="1"/>
              <a:t>so’zdan</a:t>
            </a:r>
            <a:r>
              <a:rPr lang="en-US" dirty="0"/>
              <a:t> </a:t>
            </a:r>
            <a:r>
              <a:rPr lang="en-US" dirty="0" err="1"/>
              <a:t>foydalanamiz</a:t>
            </a:r>
            <a:r>
              <a:rPr lang="en-US" dirty="0"/>
              <a:t>: </a:t>
            </a:r>
            <a:r>
              <a:rPr lang="en-US" b="1" dirty="0" smtClean="0">
                <a:solidFill>
                  <a:srgbClr val="FF0000"/>
                </a:solidFill>
              </a:rPr>
              <a:t>Kod_11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69397" y="2862787"/>
            <a:ext cx="7305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Lug’atga</a:t>
            </a:r>
            <a:r>
              <a:rPr lang="en-US" dirty="0"/>
              <a:t> element </a:t>
            </a:r>
            <a:r>
              <a:rPr lang="en-US" dirty="0" err="1"/>
              <a:t>qo’shish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kaliti</a:t>
            </a:r>
            <a:r>
              <a:rPr lang="en-US" dirty="0"/>
              <a:t> </a:t>
            </a:r>
            <a:r>
              <a:rPr lang="en-US" dirty="0" err="1"/>
              <a:t>yordamida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unga</a:t>
            </a:r>
            <a:r>
              <a:rPr lang="en-US" dirty="0"/>
              <a:t>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berish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oshiriladi</a:t>
            </a:r>
            <a:r>
              <a:rPr lang="en-US" dirty="0"/>
              <a:t>: </a:t>
            </a:r>
            <a:r>
              <a:rPr lang="en-US" b="1" dirty="0" smtClean="0">
                <a:solidFill>
                  <a:srgbClr val="FF0000"/>
                </a:solidFill>
              </a:rPr>
              <a:t>Kod_12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9775" y="3708366"/>
            <a:ext cx="70285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Lug’atdan</a:t>
            </a:r>
            <a:r>
              <a:rPr lang="en-US" dirty="0"/>
              <a:t> </a:t>
            </a:r>
            <a:r>
              <a:rPr lang="en-US" dirty="0" err="1"/>
              <a:t>elementlarni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tashlash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pop() </a:t>
            </a:r>
            <a:r>
              <a:rPr lang="en-US" dirty="0" err="1"/>
              <a:t>metodidan</a:t>
            </a:r>
            <a:r>
              <a:rPr lang="en-US" dirty="0"/>
              <a:t> </a:t>
            </a:r>
            <a:r>
              <a:rPr lang="en-US" dirty="0" err="1"/>
              <a:t>foydalanamiz</a:t>
            </a:r>
            <a:r>
              <a:rPr lang="en-US" dirty="0" smtClean="0"/>
              <a:t>:  </a:t>
            </a:r>
            <a:r>
              <a:rPr lang="en-US" b="1" dirty="0" smtClean="0">
                <a:solidFill>
                  <a:srgbClr val="FF0000"/>
                </a:solidFill>
              </a:rPr>
              <a:t>Kod_13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51367" y="530958"/>
            <a:ext cx="70954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Lug’atda</a:t>
            </a:r>
            <a:r>
              <a:rPr lang="en-US" dirty="0"/>
              <a:t> </a:t>
            </a:r>
            <a:r>
              <a:rPr lang="en-US" dirty="0" err="1"/>
              <a:t>oxxirgi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qiymatni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tashlash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poptime</a:t>
            </a:r>
            <a:r>
              <a:rPr lang="en-US" dirty="0"/>
              <a:t>() </a:t>
            </a:r>
            <a:r>
              <a:rPr lang="en-US" dirty="0" err="1"/>
              <a:t>metodidan</a:t>
            </a:r>
            <a:r>
              <a:rPr lang="en-US" dirty="0"/>
              <a:t> </a:t>
            </a:r>
            <a:r>
              <a:rPr lang="en-US" dirty="0" err="1"/>
              <a:t>foydalanamiz</a:t>
            </a:r>
            <a:r>
              <a:rPr lang="en-US" dirty="0"/>
              <a:t>: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Kod-14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51367" y="1190178"/>
            <a:ext cx="61066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del </a:t>
            </a:r>
            <a:r>
              <a:rPr lang="en-US" dirty="0" err="1"/>
              <a:t>metodi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kalit</a:t>
            </a:r>
            <a:r>
              <a:rPr lang="en-US" dirty="0"/>
              <a:t> </a:t>
            </a:r>
            <a:r>
              <a:rPr lang="en-US" dirty="0" err="1"/>
              <a:t>soz</a:t>
            </a:r>
            <a:r>
              <a:rPr lang="en-US" dirty="0"/>
              <a:t> </a:t>
            </a:r>
            <a:r>
              <a:rPr lang="en-US" dirty="0" err="1"/>
              <a:t>hamda</a:t>
            </a:r>
            <a:r>
              <a:rPr lang="en-US" dirty="0"/>
              <a:t> </a:t>
            </a:r>
            <a:r>
              <a:rPr lang="en-US" dirty="0" err="1"/>
              <a:t>unga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qiymatni</a:t>
            </a:r>
            <a:r>
              <a:rPr lang="en-US" dirty="0"/>
              <a:t> </a:t>
            </a:r>
            <a:r>
              <a:rPr lang="en-US" dirty="0" err="1"/>
              <a:t>butunlay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tashlaydi</a:t>
            </a:r>
            <a:r>
              <a:rPr lang="en-US" dirty="0"/>
              <a:t>: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Kod_15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5925" y="1849398"/>
            <a:ext cx="61775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Shuningdek</a:t>
            </a:r>
            <a:r>
              <a:rPr lang="en-US" dirty="0"/>
              <a:t> del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lug’atni</a:t>
            </a:r>
            <a:r>
              <a:rPr lang="en-US" dirty="0"/>
              <a:t> </a:t>
            </a:r>
            <a:r>
              <a:rPr lang="en-US" dirty="0" err="1"/>
              <a:t>butunlay</a:t>
            </a:r>
            <a:r>
              <a:rPr lang="en-US" dirty="0"/>
              <a:t> </a:t>
            </a:r>
            <a:r>
              <a:rPr lang="en-US" dirty="0" err="1"/>
              <a:t>o’chirib</a:t>
            </a:r>
            <a:r>
              <a:rPr lang="en-US" dirty="0"/>
              <a:t> </a:t>
            </a:r>
            <a:r>
              <a:rPr lang="en-US" dirty="0" err="1"/>
              <a:t>tashlash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Kod_16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15925" y="2293175"/>
            <a:ext cx="58479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Lug’at</a:t>
            </a:r>
            <a:r>
              <a:rPr lang="en-US" dirty="0"/>
              <a:t> for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nomlarni</a:t>
            </a:r>
            <a:r>
              <a:rPr lang="en-US" dirty="0"/>
              <a:t> chop </a:t>
            </a:r>
            <a:r>
              <a:rPr lang="en-US" dirty="0" err="1"/>
              <a:t>etish</a:t>
            </a:r>
            <a:r>
              <a:rPr lang="en-US" dirty="0"/>
              <a:t>: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Kods_17_18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15925" y="2726406"/>
            <a:ext cx="66914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Xuddi</a:t>
            </a:r>
            <a:r>
              <a:rPr lang="en-US" dirty="0"/>
              <a:t>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korinishda</a:t>
            </a:r>
            <a:r>
              <a:rPr lang="en-US" dirty="0"/>
              <a:t> values() </a:t>
            </a:r>
            <a:r>
              <a:rPr lang="en-US" dirty="0" err="1"/>
              <a:t>usuliadn</a:t>
            </a:r>
            <a:r>
              <a:rPr lang="en-US" dirty="0"/>
              <a:t> ham </a:t>
            </a:r>
            <a:r>
              <a:rPr lang="en-US" dirty="0" err="1"/>
              <a:t>foydalanish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 smtClean="0"/>
              <a:t>:  </a:t>
            </a:r>
            <a:r>
              <a:rPr lang="en-US" b="1" dirty="0" smtClean="0">
                <a:solidFill>
                  <a:srgbClr val="FF0000"/>
                </a:solidFill>
              </a:rPr>
              <a:t>Kod_19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15925" y="3281460"/>
            <a:ext cx="72301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Kalitni</a:t>
            </a:r>
            <a:r>
              <a:rPr lang="en-US" dirty="0"/>
              <a:t> ham </a:t>
            </a:r>
            <a:r>
              <a:rPr lang="en-US" dirty="0" err="1"/>
              <a:t>qiymatni</a:t>
            </a:r>
            <a:r>
              <a:rPr lang="en-US" dirty="0"/>
              <a:t> ham chop </a:t>
            </a:r>
            <a:r>
              <a:rPr lang="en-US" dirty="0" err="1"/>
              <a:t>etish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items()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foydalanamiz</a:t>
            </a:r>
            <a:r>
              <a:rPr lang="en-US" dirty="0" smtClean="0"/>
              <a:t>:  </a:t>
            </a:r>
            <a:r>
              <a:rPr lang="en-US" b="1" dirty="0" smtClean="0">
                <a:solidFill>
                  <a:srgbClr val="FF0000"/>
                </a:solidFill>
              </a:rPr>
              <a:t>Kod_20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15924" y="3749960"/>
            <a:ext cx="68615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Lugatdan</a:t>
            </a:r>
            <a:r>
              <a:rPr lang="en-US" dirty="0"/>
              <a:t> </a:t>
            </a:r>
            <a:r>
              <a:rPr lang="en-US" dirty="0" err="1"/>
              <a:t>nusxa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copy() </a:t>
            </a:r>
            <a:r>
              <a:rPr lang="en-US" dirty="0" err="1"/>
              <a:t>metodidan</a:t>
            </a:r>
            <a:r>
              <a:rPr lang="en-US" dirty="0"/>
              <a:t> </a:t>
            </a:r>
            <a:r>
              <a:rPr lang="en-US" dirty="0" err="1"/>
              <a:t>foydalanamiz</a:t>
            </a:r>
            <a:r>
              <a:rPr lang="en-US" dirty="0"/>
              <a:t>: </a:t>
            </a:r>
            <a:r>
              <a:rPr lang="en-US" b="1" dirty="0" smtClean="0">
                <a:solidFill>
                  <a:srgbClr val="FF0000"/>
                </a:solidFill>
              </a:rPr>
              <a:t>Kod_21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03632" y="674124"/>
            <a:ext cx="58366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/>
              <a:t>Lug’ay</a:t>
            </a:r>
            <a:r>
              <a:rPr lang="en-US" sz="1600" dirty="0"/>
              <a:t> </a:t>
            </a:r>
            <a:r>
              <a:rPr lang="en-US" sz="1600" dirty="0" err="1"/>
              <a:t>ichida</a:t>
            </a:r>
            <a:r>
              <a:rPr lang="en-US" sz="1600" dirty="0"/>
              <a:t> </a:t>
            </a:r>
            <a:r>
              <a:rPr lang="en-US" sz="1600" dirty="0" err="1"/>
              <a:t>lugat</a:t>
            </a:r>
            <a:r>
              <a:rPr lang="en-US" sz="1600" dirty="0"/>
              <a:t> </a:t>
            </a:r>
            <a:r>
              <a:rPr lang="en-US" sz="1600" dirty="0" err="1"/>
              <a:t>quyidagicha</a:t>
            </a:r>
            <a:r>
              <a:rPr lang="en-US" sz="1600" dirty="0"/>
              <a:t> </a:t>
            </a:r>
            <a:r>
              <a:rPr lang="en-US" sz="1600" dirty="0" err="1"/>
              <a:t>yaratilinadi</a:t>
            </a:r>
            <a:r>
              <a:rPr lang="en-US" sz="1600" dirty="0"/>
              <a:t>: </a:t>
            </a:r>
            <a:r>
              <a:rPr lang="en-US" sz="1600" b="1" dirty="0" smtClean="0">
                <a:solidFill>
                  <a:srgbClr val="FF0000"/>
                </a:solidFill>
              </a:rPr>
              <a:t>Kod-22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03632" y="2310140"/>
            <a:ext cx="58543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/>
              <a:t>Tartibsiz</a:t>
            </a:r>
            <a:r>
              <a:rPr lang="en-US" sz="1800" dirty="0"/>
              <a:t> </a:t>
            </a:r>
            <a:r>
              <a:rPr lang="en-US" sz="1800" dirty="0" err="1"/>
              <a:t>holda</a:t>
            </a:r>
            <a:r>
              <a:rPr lang="en-US" sz="1800" dirty="0"/>
              <a:t> </a:t>
            </a:r>
            <a:r>
              <a:rPr lang="en-US" sz="1800" dirty="0" err="1"/>
              <a:t>esa</a:t>
            </a:r>
            <a:r>
              <a:rPr lang="en-US" sz="1800" dirty="0"/>
              <a:t> </a:t>
            </a:r>
            <a:r>
              <a:rPr lang="en-US" sz="1800" dirty="0" err="1"/>
              <a:t>quyidagi</a:t>
            </a:r>
            <a:r>
              <a:rPr lang="en-US" sz="1800" dirty="0"/>
              <a:t> </a:t>
            </a:r>
            <a:r>
              <a:rPr lang="en-US" sz="1800" dirty="0" err="1"/>
              <a:t>usuldan</a:t>
            </a:r>
            <a:r>
              <a:rPr lang="en-US" sz="1800" dirty="0"/>
              <a:t> </a:t>
            </a:r>
            <a:r>
              <a:rPr lang="en-US" sz="1800" dirty="0" err="1"/>
              <a:t>foydanalishimiz</a:t>
            </a:r>
            <a:r>
              <a:rPr lang="en-US" sz="1800" dirty="0"/>
              <a:t> </a:t>
            </a:r>
            <a:r>
              <a:rPr lang="en-US" sz="1800" dirty="0" err="1"/>
              <a:t>mumkin</a:t>
            </a:r>
            <a:r>
              <a:rPr lang="en-US" sz="1800" dirty="0"/>
              <a:t>: </a:t>
            </a:r>
            <a:r>
              <a:rPr lang="en-US" sz="1800" dirty="0" smtClean="0"/>
              <a:t> </a:t>
            </a:r>
            <a:r>
              <a:rPr lang="en-US" sz="1800" b="1" dirty="0">
                <a:solidFill>
                  <a:srgbClr val="FF0000"/>
                </a:solidFill>
              </a:rPr>
              <a:t>K</a:t>
            </a:r>
            <a:r>
              <a:rPr lang="en-US" sz="1800" b="1" dirty="0" smtClean="0">
                <a:solidFill>
                  <a:srgbClr val="FF0000"/>
                </a:solidFill>
              </a:rPr>
              <a:t>od_23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8"/>
          <p:cNvGrpSpPr/>
          <p:nvPr/>
        </p:nvGrpSpPr>
        <p:grpSpPr>
          <a:xfrm rot="-215757">
            <a:off x="789874" y="1291217"/>
            <a:ext cx="3705657" cy="2561079"/>
            <a:chOff x="151933" y="414140"/>
            <a:chExt cx="7263081" cy="5019710"/>
          </a:xfrm>
        </p:grpSpPr>
        <p:sp>
          <p:nvSpPr>
            <p:cNvPr id="475" name="Google Shape;475;p38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151933" y="414140"/>
              <a:ext cx="7263081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9" name="Google Shape;479;p38"/>
          <p:cNvSpPr txBox="1">
            <a:spLocks noGrp="1"/>
          </p:cNvSpPr>
          <p:nvPr>
            <p:ph type="ctrTitle"/>
          </p:nvPr>
        </p:nvSpPr>
        <p:spPr>
          <a:xfrm rot="367" flipH="1">
            <a:off x="4883889" y="1436424"/>
            <a:ext cx="3260636" cy="12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</a:rPr>
              <a:t>E’tiboringiz uchun raxmat</a:t>
            </a:r>
            <a:endParaRPr dirty="0"/>
          </a:p>
        </p:txBody>
      </p:sp>
      <p:grpSp>
        <p:nvGrpSpPr>
          <p:cNvPr id="481" name="Google Shape;481;p38"/>
          <p:cNvGrpSpPr/>
          <p:nvPr/>
        </p:nvGrpSpPr>
        <p:grpSpPr>
          <a:xfrm>
            <a:off x="8228912" y="4402132"/>
            <a:ext cx="403720" cy="403720"/>
            <a:chOff x="7876975" y="539500"/>
            <a:chExt cx="553800" cy="553800"/>
          </a:xfrm>
        </p:grpSpPr>
        <p:cxnSp>
          <p:nvCxnSpPr>
            <p:cNvPr id="482" name="Google Shape;482;p38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Google Shape;483;p38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4" name="Google Shape;484;p38"/>
          <p:cNvGrpSpPr/>
          <p:nvPr/>
        </p:nvGrpSpPr>
        <p:grpSpPr>
          <a:xfrm>
            <a:off x="511387" y="337632"/>
            <a:ext cx="403720" cy="403720"/>
            <a:chOff x="7876975" y="539500"/>
            <a:chExt cx="553800" cy="553800"/>
          </a:xfrm>
        </p:grpSpPr>
        <p:cxnSp>
          <p:nvCxnSpPr>
            <p:cNvPr id="485" name="Google Shape;485;p38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6" name="Google Shape;486;p38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7" name="Google Shape;487;p38"/>
          <p:cNvGrpSpPr/>
          <p:nvPr/>
        </p:nvGrpSpPr>
        <p:grpSpPr>
          <a:xfrm>
            <a:off x="8228912" y="1353770"/>
            <a:ext cx="403720" cy="403720"/>
            <a:chOff x="7876975" y="539500"/>
            <a:chExt cx="553800" cy="553800"/>
          </a:xfrm>
        </p:grpSpPr>
        <p:cxnSp>
          <p:nvCxnSpPr>
            <p:cNvPr id="488" name="Google Shape;488;p38"/>
            <p:cNvCxnSpPr/>
            <p:nvPr/>
          </p:nvCxnSpPr>
          <p:spPr>
            <a:xfrm>
              <a:off x="8153875" y="539500"/>
              <a:ext cx="0" cy="553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9" name="Google Shape;489;p38"/>
            <p:cNvCxnSpPr/>
            <p:nvPr/>
          </p:nvCxnSpPr>
          <p:spPr>
            <a:xfrm>
              <a:off x="7876975" y="816400"/>
              <a:ext cx="553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6540">
            <a:off x="898880" y="1441368"/>
            <a:ext cx="3450696" cy="19341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ce Minitheme by Slidesgo">
  <a:themeElements>
    <a:clrScheme name="Simple Light">
      <a:dk1>
        <a:srgbClr val="4C6E92"/>
      </a:dk1>
      <a:lt1>
        <a:srgbClr val="7ADEDE"/>
      </a:lt1>
      <a:dk2>
        <a:srgbClr val="FFFFFF"/>
      </a:dk2>
      <a:lt2>
        <a:srgbClr val="364E69"/>
      </a:lt2>
      <a:accent1>
        <a:srgbClr val="8ABAE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64E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516</Words>
  <Application>Microsoft Office PowerPoint</Application>
  <PresentationFormat>Экран (16:9)</PresentationFormat>
  <Paragraphs>81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DM Sans</vt:lpstr>
      <vt:lpstr>Bebas Neue</vt:lpstr>
      <vt:lpstr>Anton</vt:lpstr>
      <vt:lpstr>Arial</vt:lpstr>
      <vt:lpstr>Darker Grotesque SemiBold</vt:lpstr>
      <vt:lpstr>Ice Minitheme by Slidesgo</vt:lpstr>
      <vt:lpstr>Dars 12</vt:lpstr>
      <vt:lpstr>Reja: </vt:lpstr>
      <vt:lpstr>Pythonda list tushunchasi(to’plam) lu’gat</vt:lpstr>
      <vt:lpstr>Презентация PowerPoint</vt:lpstr>
      <vt:lpstr>Презентация PowerPoint</vt:lpstr>
      <vt:lpstr>Lugatlar ustida amallar</vt:lpstr>
      <vt:lpstr>Презентация PowerPoint</vt:lpstr>
      <vt:lpstr>Презентация PowerPoint</vt:lpstr>
      <vt:lpstr>Презентация PowerPoint</vt:lpstr>
      <vt:lpstr>Elelmentlarga kirish: </vt:lpstr>
      <vt:lpstr>Презентация PowerPoint</vt:lpstr>
      <vt:lpstr>Презентация PowerPoint</vt:lpstr>
      <vt:lpstr>Презентация PowerPoint</vt:lpstr>
      <vt:lpstr>E’tiboringiz uchun raxmat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12</dc:title>
  <cp:lastModifiedBy>user</cp:lastModifiedBy>
  <cp:revision>6</cp:revision>
  <dcterms:modified xsi:type="dcterms:W3CDTF">2023-11-17T06:59:21Z</dcterms:modified>
</cp:coreProperties>
</file>